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72" r:id="rId4"/>
    <p:sldId id="259" r:id="rId5"/>
    <p:sldId id="262" r:id="rId6"/>
    <p:sldId id="263" r:id="rId7"/>
    <p:sldId id="260" r:id="rId8"/>
    <p:sldId id="273" r:id="rId9"/>
    <p:sldId id="274" r:id="rId10"/>
    <p:sldId id="261" r:id="rId11"/>
    <p:sldId id="264" r:id="rId12"/>
    <p:sldId id="275" r:id="rId13"/>
    <p:sldId id="265" r:id="rId14"/>
    <p:sldId id="277" r:id="rId15"/>
    <p:sldId id="276" r:id="rId16"/>
    <p:sldId id="267" r:id="rId17"/>
    <p:sldId id="268" r:id="rId18"/>
    <p:sldId id="271"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5"/>
    <p:restoredTop sz="94830"/>
  </p:normalViewPr>
  <p:slideViewPr>
    <p:cSldViewPr snapToGrid="0">
      <p:cViewPr>
        <p:scale>
          <a:sx n="150" d="100"/>
          <a:sy n="150" d="100"/>
        </p:scale>
        <p:origin x="-86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7D183-D2F3-9043-8B11-105E2F6389C3}" type="datetimeFigureOut">
              <a:rPr lang="en-US" smtClean="0"/>
              <a:t>2/24/25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37CFC-A6C7-0944-8400-1793D314B9DF}" type="slidenum">
              <a:rPr lang="en-US" smtClean="0"/>
              <a:t>‹#›</a:t>
            </a:fld>
            <a:endParaRPr lang="en-US"/>
          </a:p>
        </p:txBody>
      </p:sp>
    </p:spTree>
    <p:extLst>
      <p:ext uri="{BB962C8B-B14F-4D97-AF65-F5344CB8AC3E}">
        <p14:creationId xmlns:p14="http://schemas.microsoft.com/office/powerpoint/2010/main" val="697539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237CFC-A6C7-0944-8400-1793D314B9DF}" type="slidenum">
              <a:rPr lang="en-US" smtClean="0"/>
              <a:t>11</a:t>
            </a:fld>
            <a:endParaRPr lang="en-US"/>
          </a:p>
        </p:txBody>
      </p:sp>
    </p:spTree>
    <p:extLst>
      <p:ext uri="{BB962C8B-B14F-4D97-AF65-F5344CB8AC3E}">
        <p14:creationId xmlns:p14="http://schemas.microsoft.com/office/powerpoint/2010/main" val="330638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0CCD4-8E4E-6116-65A1-18C88A4D513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0431287-1CD8-A310-5CE4-0ABD74B34E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928B75-9EBE-1693-B7DC-12A5384227D2}"/>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5" name="Footer Placeholder 4">
            <a:extLst>
              <a:ext uri="{FF2B5EF4-FFF2-40B4-BE49-F238E27FC236}">
                <a16:creationId xmlns:a16="http://schemas.microsoft.com/office/drawing/2014/main" id="{2A35FA74-787A-5DEA-5773-DE0E9BF355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D03A2-B416-0976-D2E8-14227B43669B}"/>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50014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60DF-9DA6-C65C-70FB-EDFF30F3843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2A7AA2-510A-0640-3D84-CD6A1E6667B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6A6CBC-892D-BB8B-2E9B-6D2228604349}"/>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5" name="Footer Placeholder 4">
            <a:extLst>
              <a:ext uri="{FF2B5EF4-FFF2-40B4-BE49-F238E27FC236}">
                <a16:creationId xmlns:a16="http://schemas.microsoft.com/office/drawing/2014/main" id="{93A8816D-F105-A130-D454-5AA1D65E0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B88C4-40EA-C047-1BF1-C48EC4865CC3}"/>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3832438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DBE0-A783-995A-84DF-5F3B9D7D029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F0E63C1-ADAF-0C59-9A71-86E4B12198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DB21E36-E5E9-F423-36C6-0798C5DB4EC1}"/>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5" name="Footer Placeholder 4">
            <a:extLst>
              <a:ext uri="{FF2B5EF4-FFF2-40B4-BE49-F238E27FC236}">
                <a16:creationId xmlns:a16="http://schemas.microsoft.com/office/drawing/2014/main" id="{EEA83DA7-1420-4D1B-3D5C-88DBDF624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D8DCE9-376C-B270-F4FE-6442C6BF4613}"/>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557017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386D-ABDD-365D-77E1-C334E462FC6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34DA545-F41E-D260-6367-4857DB45888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7E3C394-231D-F5EC-FC8C-96BE15BBBAA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3347CDC-AE0E-FB0A-797B-F8E770B79588}"/>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6" name="Footer Placeholder 5">
            <a:extLst>
              <a:ext uri="{FF2B5EF4-FFF2-40B4-BE49-F238E27FC236}">
                <a16:creationId xmlns:a16="http://schemas.microsoft.com/office/drawing/2014/main" id="{7A62B103-66C9-6902-E58E-E275799808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004DDC-E82D-2073-A0F5-72087F683020}"/>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208100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F7F8-F1D7-4592-4CB6-EDEDC41106D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134057-88DC-BEBA-4AEA-1D5E3518B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C5643FB-8628-CEC6-8B3D-687B8265CF7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AF49FB5-D4F6-B61E-F15E-02D6E44EE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45E5465-8922-E5D7-78F1-FE67EB11D1F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6E8AD0C-9ECE-09C2-19E7-93B5E8917ACA}"/>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8" name="Footer Placeholder 7">
            <a:extLst>
              <a:ext uri="{FF2B5EF4-FFF2-40B4-BE49-F238E27FC236}">
                <a16:creationId xmlns:a16="http://schemas.microsoft.com/office/drawing/2014/main" id="{1B2616A3-67FC-4415-C597-B8818E357A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A59D8C-242A-7B74-FA62-CCCD0AA01539}"/>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582930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34837-2EDA-48F7-4E31-259F1453A5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E899CB8-7408-ADAF-6F92-0184EBC92757}"/>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4" name="Footer Placeholder 3">
            <a:extLst>
              <a:ext uri="{FF2B5EF4-FFF2-40B4-BE49-F238E27FC236}">
                <a16:creationId xmlns:a16="http://schemas.microsoft.com/office/drawing/2014/main" id="{4A0487D6-6C9B-776C-2F50-B793AD4BEC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B77A5E-E4AD-2527-89F9-88A5342B5FE4}"/>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26478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A30709-970A-DA7E-4F73-FCD5058F7CBF}"/>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3" name="Footer Placeholder 2">
            <a:extLst>
              <a:ext uri="{FF2B5EF4-FFF2-40B4-BE49-F238E27FC236}">
                <a16:creationId xmlns:a16="http://schemas.microsoft.com/office/drawing/2014/main" id="{A149FA8A-5228-CCCD-00E7-4C4141AA16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81CECB-6E8E-7F60-EA12-93ACA90458C9}"/>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2958737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6AC6-9BE0-4DF6-A8EC-B081051762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F74E644-8DA3-66BA-967C-90D2497EE3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C821341-CBEC-5F2A-3E99-FE348915A3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F12EE5C-0E7D-DDD4-66AC-1C0AD1798D4E}"/>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6" name="Footer Placeholder 5">
            <a:extLst>
              <a:ext uri="{FF2B5EF4-FFF2-40B4-BE49-F238E27FC236}">
                <a16:creationId xmlns:a16="http://schemas.microsoft.com/office/drawing/2014/main" id="{6C02E538-78EC-AE48-6C84-ACCECDDBE6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311018-E5DD-B701-1A89-3B9239A5E728}"/>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3008220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490A0-B8E1-8C55-0C04-F186913FC6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1980AB2-BF75-0DFD-EE1A-98BF82DC46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120A80-58F8-8AE8-6175-58243E689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ACF4F6-F60F-6B3A-B003-0AF17C94065D}"/>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6" name="Footer Placeholder 5">
            <a:extLst>
              <a:ext uri="{FF2B5EF4-FFF2-40B4-BE49-F238E27FC236}">
                <a16:creationId xmlns:a16="http://schemas.microsoft.com/office/drawing/2014/main" id="{223AEA37-A4B1-D3C0-3F81-49D03D7346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36B772-EDE0-0A73-F969-DF760E1EBB1E}"/>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621787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D993-9D6E-03DE-7F23-325D78B564B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9E1EBD7-74CC-1759-726B-517C2E58A6A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B59292-DEB6-C3FD-C24B-414A5AAA63A0}"/>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5" name="Footer Placeholder 4">
            <a:extLst>
              <a:ext uri="{FF2B5EF4-FFF2-40B4-BE49-F238E27FC236}">
                <a16:creationId xmlns:a16="http://schemas.microsoft.com/office/drawing/2014/main" id="{4050E1B4-A8D2-A34A-7925-63D294AF50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913AE-E42E-1452-86F0-C85069A7FBD0}"/>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064015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A75BC8-FA6D-5975-852A-9E0C34973D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E6BB11-8DB3-251E-FD8C-67526639D8E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00C468-15B3-3A30-CEC6-0D783C02EAF2}"/>
              </a:ext>
            </a:extLst>
          </p:cNvPr>
          <p:cNvSpPr>
            <a:spLocks noGrp="1"/>
          </p:cNvSpPr>
          <p:nvPr>
            <p:ph type="dt" sz="half" idx="10"/>
          </p:nvPr>
        </p:nvSpPr>
        <p:spPr/>
        <p:txBody>
          <a:bodyPr/>
          <a:lstStyle/>
          <a:p>
            <a:fld id="{5A54DEBE-1438-0A4F-83D7-EC74AA0F8AFF}" type="datetimeFigureOut">
              <a:rPr lang="en-US" smtClean="0"/>
              <a:t>2/24/25</a:t>
            </a:fld>
            <a:endParaRPr lang="en-US"/>
          </a:p>
        </p:txBody>
      </p:sp>
      <p:sp>
        <p:nvSpPr>
          <p:cNvPr id="5" name="Footer Placeholder 4">
            <a:extLst>
              <a:ext uri="{FF2B5EF4-FFF2-40B4-BE49-F238E27FC236}">
                <a16:creationId xmlns:a16="http://schemas.microsoft.com/office/drawing/2014/main" id="{957D3FB6-D113-82A6-1826-4EB7A2AD0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F622E-020D-BCF9-4FB5-FBCE81E3FCBE}"/>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3668317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64D898-C050-1DB6-CEFE-E2C8BE64B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25F4C37-CCF4-2A1C-A123-2BBBF32FAC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33A98D-B166-13B1-FD50-95D81B9C5E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54DEBE-1438-0A4F-83D7-EC74AA0F8AFF}" type="datetimeFigureOut">
              <a:rPr lang="en-US" smtClean="0"/>
              <a:t>2/24/25</a:t>
            </a:fld>
            <a:endParaRPr lang="en-US"/>
          </a:p>
        </p:txBody>
      </p:sp>
      <p:sp>
        <p:nvSpPr>
          <p:cNvPr id="5" name="Footer Placeholder 4">
            <a:extLst>
              <a:ext uri="{FF2B5EF4-FFF2-40B4-BE49-F238E27FC236}">
                <a16:creationId xmlns:a16="http://schemas.microsoft.com/office/drawing/2014/main" id="{E3518DB4-30EC-69EE-9E45-4D607651A3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D16C4D-D621-7E6B-F881-33A12077CB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683C-E827-8A4F-A74C-90763AC2280E}" type="slidenum">
              <a:rPr lang="en-US" smtClean="0"/>
              <a:t>‹#›</a:t>
            </a:fld>
            <a:endParaRPr lang="en-US"/>
          </a:p>
        </p:txBody>
      </p:sp>
      <p:sp>
        <p:nvSpPr>
          <p:cNvPr id="8" name="TextBox 7">
            <a:extLst>
              <a:ext uri="{FF2B5EF4-FFF2-40B4-BE49-F238E27FC236}">
                <a16:creationId xmlns:a16="http://schemas.microsoft.com/office/drawing/2014/main" id="{B628C8F5-DD3C-2026-5C11-D09CAF3A7468}"/>
              </a:ext>
            </a:extLst>
          </p:cNvPr>
          <p:cNvSpPr txBox="1"/>
          <p:nvPr userDrawn="1">
            <p:extLst>
              <p:ext uri="{1162E1C5-73C7-4A58-AE30-91384D911F3F}">
                <p184:classification xmlns:p184="http://schemas.microsoft.com/office/powerpoint/2018/4/main" val="ftr"/>
              </p:ext>
            </p:extLst>
          </p:nvPr>
        </p:nvSpPr>
        <p:spPr>
          <a:xfrm>
            <a:off x="63500" y="6642100"/>
            <a:ext cx="137953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cs typeface="Calibri" panose="020F0502020204030204" pitchFamily="34" charset="0"/>
              </a:rPr>
              <a:t>Data Classification: Amber</a:t>
            </a:r>
          </a:p>
        </p:txBody>
      </p:sp>
    </p:spTree>
    <p:extLst>
      <p:ext uri="{BB962C8B-B14F-4D97-AF65-F5344CB8AC3E}">
        <p14:creationId xmlns:p14="http://schemas.microsoft.com/office/powerpoint/2010/main" val="300298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FC63-FDE4-C490-6291-054CB5D8D90F}"/>
              </a:ext>
            </a:extLst>
          </p:cNvPr>
          <p:cNvSpPr>
            <a:spLocks noGrp="1"/>
          </p:cNvSpPr>
          <p:nvPr>
            <p:ph type="ctrTitle"/>
          </p:nvPr>
        </p:nvSpPr>
        <p:spPr/>
        <p:txBody>
          <a:bodyPr/>
          <a:lstStyle/>
          <a:p>
            <a:r>
              <a:rPr lang="en-US" b="1" dirty="0"/>
              <a:t>AWS API Gateway</a:t>
            </a:r>
          </a:p>
        </p:txBody>
      </p:sp>
      <p:sp>
        <p:nvSpPr>
          <p:cNvPr id="3" name="Subtitle 2">
            <a:extLst>
              <a:ext uri="{FF2B5EF4-FFF2-40B4-BE49-F238E27FC236}">
                <a16:creationId xmlns:a16="http://schemas.microsoft.com/office/drawing/2014/main" id="{AC9D837E-2CF4-FEAA-B348-0A25C1B1671B}"/>
              </a:ext>
            </a:extLst>
          </p:cNvPr>
          <p:cNvSpPr>
            <a:spLocks noGrp="1"/>
          </p:cNvSpPr>
          <p:nvPr>
            <p:ph type="subTitle" idx="1"/>
          </p:nvPr>
        </p:nvSpPr>
        <p:spPr/>
        <p:txBody>
          <a:bodyPr/>
          <a:lstStyle/>
          <a:p>
            <a:r>
              <a:rPr lang="en-US" dirty="0"/>
              <a:t>API &amp; Services - Engineering Workshop 2</a:t>
            </a:r>
          </a:p>
          <a:p>
            <a:r>
              <a:rPr lang="en-US" dirty="0"/>
              <a:t>Monday, 24</a:t>
            </a:r>
            <a:r>
              <a:rPr lang="en-US" baseline="30000" dirty="0"/>
              <a:t>th</a:t>
            </a:r>
            <a:r>
              <a:rPr lang="en-US" dirty="0"/>
              <a:t> of February 2025</a:t>
            </a:r>
          </a:p>
        </p:txBody>
      </p:sp>
    </p:spTree>
    <p:extLst>
      <p:ext uri="{BB962C8B-B14F-4D97-AF65-F5344CB8AC3E}">
        <p14:creationId xmlns:p14="http://schemas.microsoft.com/office/powerpoint/2010/main" val="543238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B84-4FDA-EF7E-4955-9A806BBA5DB4}"/>
              </a:ext>
            </a:extLst>
          </p:cNvPr>
          <p:cNvSpPr>
            <a:spLocks noGrp="1"/>
          </p:cNvSpPr>
          <p:nvPr>
            <p:ph type="title"/>
          </p:nvPr>
        </p:nvSpPr>
        <p:spPr/>
        <p:txBody>
          <a:bodyPr/>
          <a:lstStyle/>
          <a:p>
            <a:r>
              <a:rPr lang="en-US" dirty="0"/>
              <a:t>What is AWS API Gateway? (1)</a:t>
            </a:r>
          </a:p>
        </p:txBody>
      </p:sp>
      <p:sp>
        <p:nvSpPr>
          <p:cNvPr id="3" name="Content Placeholder 2">
            <a:extLst>
              <a:ext uri="{FF2B5EF4-FFF2-40B4-BE49-F238E27FC236}">
                <a16:creationId xmlns:a16="http://schemas.microsoft.com/office/drawing/2014/main" id="{7F076D0D-79C7-703B-2E2A-47F31B8D8F18}"/>
              </a:ext>
            </a:extLst>
          </p:cNvPr>
          <p:cNvSpPr>
            <a:spLocks noGrp="1"/>
          </p:cNvSpPr>
          <p:nvPr>
            <p:ph idx="1"/>
          </p:nvPr>
        </p:nvSpPr>
        <p:spPr/>
        <p:txBody>
          <a:bodyPr>
            <a:normAutofit/>
          </a:bodyPr>
          <a:lstStyle/>
          <a:p>
            <a:pPr lvl="1"/>
            <a:r>
              <a:rPr lang="en-GB" b="0" i="0" dirty="0">
                <a:solidFill>
                  <a:srgbClr val="0F141A"/>
                </a:solidFill>
                <a:effectLst/>
                <a:latin typeface="Amazon Ember"/>
              </a:rPr>
              <a:t>Amazon API Gateway is an AWS service for creating, publishing, maintaining, monitoring, and securing REST, HTTP, and WebSocket APIs at any scale.</a:t>
            </a:r>
          </a:p>
          <a:p>
            <a:pPr lvl="1"/>
            <a:r>
              <a:rPr lang="en-GB" dirty="0">
                <a:solidFill>
                  <a:srgbClr val="0F141A"/>
                </a:solidFill>
                <a:latin typeface="Amazon Ember"/>
              </a:rPr>
              <a:t>Using API Gateway we can create:</a:t>
            </a:r>
          </a:p>
          <a:p>
            <a:pPr lvl="2"/>
            <a:r>
              <a:rPr lang="en-GB" b="1" dirty="0">
                <a:solidFill>
                  <a:srgbClr val="FF0000"/>
                </a:solidFill>
                <a:latin typeface="Amazon Ember"/>
              </a:rPr>
              <a:t>RESTful APIs (flag-ship product, full feature set);</a:t>
            </a:r>
          </a:p>
          <a:p>
            <a:pPr lvl="2"/>
            <a:r>
              <a:rPr lang="en-GB" dirty="0">
                <a:solidFill>
                  <a:srgbClr val="0F141A"/>
                </a:solidFill>
                <a:latin typeface="Amazon Ember"/>
              </a:rPr>
              <a:t>HTTP APIs (often called v2, no full feature set, a sub-set of the REST product);</a:t>
            </a:r>
          </a:p>
          <a:p>
            <a:pPr lvl="2"/>
            <a:r>
              <a:rPr lang="en-GB" dirty="0">
                <a:solidFill>
                  <a:srgbClr val="0F141A"/>
                </a:solidFill>
                <a:latin typeface="Amazon Ember"/>
              </a:rPr>
              <a:t>WebSocket API</a:t>
            </a:r>
          </a:p>
          <a:p>
            <a:pPr lvl="1"/>
            <a:r>
              <a:rPr lang="en-US" b="1" dirty="0">
                <a:solidFill>
                  <a:srgbClr val="0F141A"/>
                </a:solidFill>
                <a:latin typeface="Amazon Ember"/>
              </a:rPr>
              <a:t>Note</a:t>
            </a:r>
            <a:r>
              <a:rPr lang="en-US" dirty="0">
                <a:solidFill>
                  <a:srgbClr val="0F141A"/>
                </a:solidFill>
                <a:latin typeface="Amazon Ember"/>
              </a:rPr>
              <a:t>: there is a separate service for the Graph QL equivalent called AWS AppSync.</a:t>
            </a:r>
            <a:endParaRPr lang="en-GB" dirty="0">
              <a:solidFill>
                <a:srgbClr val="0F141A"/>
              </a:solidFill>
              <a:latin typeface="Amazon Ember"/>
            </a:endParaRPr>
          </a:p>
        </p:txBody>
      </p:sp>
    </p:spTree>
    <p:extLst>
      <p:ext uri="{BB962C8B-B14F-4D97-AF65-F5344CB8AC3E}">
        <p14:creationId xmlns:p14="http://schemas.microsoft.com/office/powerpoint/2010/main" val="418799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69E9-9266-AF79-C4A9-1E20DBD8C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53C46-D980-C3D8-CDC1-B9BBBD42F304}"/>
              </a:ext>
            </a:extLst>
          </p:cNvPr>
          <p:cNvSpPr>
            <a:spLocks noGrp="1"/>
          </p:cNvSpPr>
          <p:nvPr>
            <p:ph type="title"/>
          </p:nvPr>
        </p:nvSpPr>
        <p:spPr/>
        <p:txBody>
          <a:bodyPr/>
          <a:lstStyle/>
          <a:p>
            <a:r>
              <a:rPr lang="en-US"/>
              <a:t>What is AWS API Gateway? (2)</a:t>
            </a:r>
            <a:endParaRPr lang="en-US" dirty="0"/>
          </a:p>
        </p:txBody>
      </p:sp>
      <p:pic>
        <p:nvPicPr>
          <p:cNvPr id="4" name="Content Placeholder 3">
            <a:extLst>
              <a:ext uri="{FF2B5EF4-FFF2-40B4-BE49-F238E27FC236}">
                <a16:creationId xmlns:a16="http://schemas.microsoft.com/office/drawing/2014/main" id="{B969939E-7AB9-9060-02CC-1AA09DD685FE}"/>
              </a:ext>
            </a:extLst>
          </p:cNvPr>
          <p:cNvPicPr>
            <a:picLocks noGrp="1" noChangeAspect="1"/>
          </p:cNvPicPr>
          <p:nvPr>
            <p:ph idx="1"/>
          </p:nvPr>
        </p:nvPicPr>
        <p:blipFill>
          <a:blip r:embed="rId2"/>
          <a:stretch>
            <a:fillRect/>
          </a:stretch>
        </p:blipFill>
        <p:spPr>
          <a:xfrm>
            <a:off x="2188436" y="1825625"/>
            <a:ext cx="7815128" cy="4351338"/>
          </a:xfrm>
          <a:prstGeom prst="rect">
            <a:avLst/>
          </a:prstGeom>
        </p:spPr>
      </p:pic>
    </p:spTree>
    <p:extLst>
      <p:ext uri="{BB962C8B-B14F-4D97-AF65-F5344CB8AC3E}">
        <p14:creationId xmlns:p14="http://schemas.microsoft.com/office/powerpoint/2010/main" val="337426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7D066-E807-5E31-55DF-84564234F791}"/>
              </a:ext>
            </a:extLst>
          </p:cNvPr>
          <p:cNvSpPr>
            <a:spLocks noGrp="1"/>
          </p:cNvSpPr>
          <p:nvPr>
            <p:ph type="title"/>
          </p:nvPr>
        </p:nvSpPr>
        <p:spPr/>
        <p:txBody>
          <a:bodyPr/>
          <a:lstStyle/>
          <a:p>
            <a:r>
              <a:rPr lang="en-US" dirty="0"/>
              <a:t>Why do we need AWS API Gateway?</a:t>
            </a:r>
          </a:p>
        </p:txBody>
      </p:sp>
      <p:sp>
        <p:nvSpPr>
          <p:cNvPr id="3" name="Content Placeholder 2">
            <a:extLst>
              <a:ext uri="{FF2B5EF4-FFF2-40B4-BE49-F238E27FC236}">
                <a16:creationId xmlns:a16="http://schemas.microsoft.com/office/drawing/2014/main" id="{3215DEDA-E447-9330-622B-C5DA97B908DE}"/>
              </a:ext>
            </a:extLst>
          </p:cNvPr>
          <p:cNvSpPr>
            <a:spLocks noGrp="1"/>
          </p:cNvSpPr>
          <p:nvPr>
            <p:ph idx="1"/>
          </p:nvPr>
        </p:nvSpPr>
        <p:spPr/>
        <p:txBody>
          <a:bodyPr/>
          <a:lstStyle/>
          <a:p>
            <a:r>
              <a:rPr lang="en-US" dirty="0"/>
              <a:t>API Gateway is our enabler for moving away from Edge to the new AWS cloud environment.</a:t>
            </a:r>
          </a:p>
          <a:p>
            <a:pPr lvl="1"/>
            <a:r>
              <a:rPr lang="en-US" dirty="0"/>
              <a:t>Exit the </a:t>
            </a:r>
            <a:r>
              <a:rPr lang="en-US" dirty="0" err="1"/>
              <a:t>rTSAs</a:t>
            </a:r>
            <a:r>
              <a:rPr lang="en-US" dirty="0"/>
              <a:t> within 2 years (leave the BBUK platform);</a:t>
            </a:r>
          </a:p>
          <a:p>
            <a:pPr lvl="1"/>
            <a:r>
              <a:rPr lang="en-US" dirty="0"/>
              <a:t>Right-size the Solution for IMS (functionality and non-functional requirements);</a:t>
            </a:r>
          </a:p>
          <a:p>
            <a:pPr lvl="1"/>
            <a:r>
              <a:rPr lang="en-US" dirty="0"/>
              <a:t>Well-supported technology (get help if we need it);</a:t>
            </a:r>
          </a:p>
          <a:p>
            <a:pPr lvl="1"/>
            <a:r>
              <a:rPr lang="en-US" dirty="0"/>
              <a:t>Consolidate around a set of technical skill sets;</a:t>
            </a:r>
          </a:p>
          <a:p>
            <a:pPr lvl="1"/>
            <a:r>
              <a:rPr lang="en-US" dirty="0"/>
              <a:t>Limit the number of 3</a:t>
            </a:r>
            <a:r>
              <a:rPr lang="en-US" baseline="30000" dirty="0"/>
              <a:t>rd</a:t>
            </a:r>
            <a:r>
              <a:rPr lang="en-US" dirty="0"/>
              <a:t> parties that we must manage;</a:t>
            </a:r>
            <a:br>
              <a:rPr lang="en-US" dirty="0"/>
            </a:br>
            <a:endParaRPr lang="en-US" dirty="0"/>
          </a:p>
        </p:txBody>
      </p:sp>
    </p:spTree>
    <p:extLst>
      <p:ext uri="{BB962C8B-B14F-4D97-AF65-F5344CB8AC3E}">
        <p14:creationId xmlns:p14="http://schemas.microsoft.com/office/powerpoint/2010/main" val="229019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2E14-C095-BE35-BBA8-E1CA7A73D26C}"/>
              </a:ext>
            </a:extLst>
          </p:cNvPr>
          <p:cNvSpPr>
            <a:spLocks noGrp="1"/>
          </p:cNvSpPr>
          <p:nvPr>
            <p:ph type="title"/>
          </p:nvPr>
        </p:nvSpPr>
        <p:spPr/>
        <p:txBody>
          <a:bodyPr/>
          <a:lstStyle/>
          <a:p>
            <a:r>
              <a:rPr lang="en-US" dirty="0"/>
              <a:t>Where does AWS API Gateway sit in the existing landscape? (1)</a:t>
            </a:r>
          </a:p>
        </p:txBody>
      </p:sp>
      <p:sp>
        <p:nvSpPr>
          <p:cNvPr id="3" name="Content Placeholder 2">
            <a:extLst>
              <a:ext uri="{FF2B5EF4-FFF2-40B4-BE49-F238E27FC236}">
                <a16:creationId xmlns:a16="http://schemas.microsoft.com/office/drawing/2014/main" id="{DA2CFC59-25A6-7B38-ED9E-2880A705090C}"/>
              </a:ext>
            </a:extLst>
          </p:cNvPr>
          <p:cNvSpPr>
            <a:spLocks noGrp="1"/>
          </p:cNvSpPr>
          <p:nvPr>
            <p:ph idx="1"/>
          </p:nvPr>
        </p:nvSpPr>
        <p:spPr/>
        <p:txBody>
          <a:bodyPr/>
          <a:lstStyle/>
          <a:p>
            <a:pPr marL="0" indent="0">
              <a:buNone/>
            </a:pPr>
            <a:r>
              <a:rPr lang="en-US" dirty="0"/>
              <a:t>High-level workflow</a:t>
            </a:r>
          </a:p>
        </p:txBody>
      </p:sp>
      <p:pic>
        <p:nvPicPr>
          <p:cNvPr id="4" name="Picture 3">
            <a:extLst>
              <a:ext uri="{FF2B5EF4-FFF2-40B4-BE49-F238E27FC236}">
                <a16:creationId xmlns:a16="http://schemas.microsoft.com/office/drawing/2014/main" id="{AA927FD9-34C9-9468-1D06-97BF29031165}"/>
              </a:ext>
            </a:extLst>
          </p:cNvPr>
          <p:cNvPicPr>
            <a:picLocks noChangeAspect="1"/>
          </p:cNvPicPr>
          <p:nvPr/>
        </p:nvPicPr>
        <p:blipFill>
          <a:blip r:embed="rId2"/>
          <a:stretch>
            <a:fillRect/>
          </a:stretch>
        </p:blipFill>
        <p:spPr>
          <a:xfrm>
            <a:off x="1579315" y="2607276"/>
            <a:ext cx="8808023" cy="2718485"/>
          </a:xfrm>
          <a:prstGeom prst="rect">
            <a:avLst/>
          </a:prstGeom>
        </p:spPr>
      </p:pic>
    </p:spTree>
    <p:extLst>
      <p:ext uri="{BB962C8B-B14F-4D97-AF65-F5344CB8AC3E}">
        <p14:creationId xmlns:p14="http://schemas.microsoft.com/office/powerpoint/2010/main" val="285890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D952-AB7D-222A-60CF-704FE3793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3FA20-4B4E-54A6-D68A-91324F7E6B70}"/>
              </a:ext>
            </a:extLst>
          </p:cNvPr>
          <p:cNvSpPr>
            <a:spLocks noGrp="1"/>
          </p:cNvSpPr>
          <p:nvPr>
            <p:ph type="title"/>
          </p:nvPr>
        </p:nvSpPr>
        <p:spPr/>
        <p:txBody>
          <a:bodyPr/>
          <a:lstStyle/>
          <a:p>
            <a:r>
              <a:rPr lang="en-US" dirty="0"/>
              <a:t>Where does AWS API Gateway sit in the existing landscape? (2)</a:t>
            </a:r>
          </a:p>
        </p:txBody>
      </p:sp>
      <p:sp>
        <p:nvSpPr>
          <p:cNvPr id="3" name="Content Placeholder 2">
            <a:extLst>
              <a:ext uri="{FF2B5EF4-FFF2-40B4-BE49-F238E27FC236}">
                <a16:creationId xmlns:a16="http://schemas.microsoft.com/office/drawing/2014/main" id="{4627CAB5-723D-20C0-D5A9-9EC9201922E6}"/>
              </a:ext>
            </a:extLst>
          </p:cNvPr>
          <p:cNvSpPr>
            <a:spLocks noGrp="1"/>
          </p:cNvSpPr>
          <p:nvPr>
            <p:ph idx="1"/>
          </p:nvPr>
        </p:nvSpPr>
        <p:spPr/>
        <p:txBody>
          <a:bodyPr/>
          <a:lstStyle/>
          <a:p>
            <a:pPr marL="0" indent="0">
              <a:buNone/>
            </a:pPr>
            <a:r>
              <a:rPr lang="en-US" dirty="0"/>
              <a:t>Highlighted – subject of today’s workshop.</a:t>
            </a:r>
          </a:p>
        </p:txBody>
      </p:sp>
      <p:pic>
        <p:nvPicPr>
          <p:cNvPr id="4" name="Picture 3">
            <a:extLst>
              <a:ext uri="{FF2B5EF4-FFF2-40B4-BE49-F238E27FC236}">
                <a16:creationId xmlns:a16="http://schemas.microsoft.com/office/drawing/2014/main" id="{65409432-C9B9-74FC-D9E1-BEE43262F464}"/>
              </a:ext>
            </a:extLst>
          </p:cNvPr>
          <p:cNvPicPr>
            <a:picLocks noChangeAspect="1"/>
          </p:cNvPicPr>
          <p:nvPr/>
        </p:nvPicPr>
        <p:blipFill>
          <a:blip r:embed="rId2"/>
          <a:stretch>
            <a:fillRect/>
          </a:stretch>
        </p:blipFill>
        <p:spPr>
          <a:xfrm>
            <a:off x="1579315" y="2607276"/>
            <a:ext cx="8808023" cy="2718485"/>
          </a:xfrm>
          <a:prstGeom prst="rect">
            <a:avLst/>
          </a:prstGeom>
        </p:spPr>
      </p:pic>
      <p:sp>
        <p:nvSpPr>
          <p:cNvPr id="38" name="Oval 37">
            <a:extLst>
              <a:ext uri="{FF2B5EF4-FFF2-40B4-BE49-F238E27FC236}">
                <a16:creationId xmlns:a16="http://schemas.microsoft.com/office/drawing/2014/main" id="{7E207C43-3EFC-EA35-76FF-DCD102C48AE9}"/>
              </a:ext>
            </a:extLst>
          </p:cNvPr>
          <p:cNvSpPr/>
          <p:nvPr/>
        </p:nvSpPr>
        <p:spPr>
          <a:xfrm>
            <a:off x="5422605" y="2254102"/>
            <a:ext cx="2849525" cy="317798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823324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4463D-5636-7A7F-5BF8-EF6BEC7E5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A4EEC-15DF-CD4F-6CB0-4F5316F30500}"/>
              </a:ext>
            </a:extLst>
          </p:cNvPr>
          <p:cNvSpPr>
            <a:spLocks noGrp="1"/>
          </p:cNvSpPr>
          <p:nvPr>
            <p:ph type="title"/>
          </p:nvPr>
        </p:nvSpPr>
        <p:spPr/>
        <p:txBody>
          <a:bodyPr/>
          <a:lstStyle/>
          <a:p>
            <a:r>
              <a:rPr lang="en-US" dirty="0"/>
              <a:t>How does AWS API Gateway work? (1)</a:t>
            </a:r>
          </a:p>
        </p:txBody>
      </p:sp>
      <p:sp>
        <p:nvSpPr>
          <p:cNvPr id="3" name="Content Placeholder 2">
            <a:extLst>
              <a:ext uri="{FF2B5EF4-FFF2-40B4-BE49-F238E27FC236}">
                <a16:creationId xmlns:a16="http://schemas.microsoft.com/office/drawing/2014/main" id="{AC13AAB5-A7CF-48B6-47C6-3E3C5FA8F27A}"/>
              </a:ext>
            </a:extLst>
          </p:cNvPr>
          <p:cNvSpPr>
            <a:spLocks noGrp="1"/>
          </p:cNvSpPr>
          <p:nvPr>
            <p:ph idx="1"/>
          </p:nvPr>
        </p:nvSpPr>
        <p:spPr/>
        <p:txBody>
          <a:bodyPr>
            <a:normAutofit/>
          </a:bodyPr>
          <a:lstStyle/>
          <a:p>
            <a:r>
              <a:rPr lang="en-US" dirty="0"/>
              <a:t>Note: This example excludes AWS WAF for simplicity.</a:t>
            </a:r>
          </a:p>
          <a:p>
            <a:endParaRPr lang="en-US" dirty="0"/>
          </a:p>
        </p:txBody>
      </p:sp>
      <p:pic>
        <p:nvPicPr>
          <p:cNvPr id="6" name="Picture 5" descr="A diagram of a software system&#10;&#10;AI-generated content may be incorrect.">
            <a:extLst>
              <a:ext uri="{FF2B5EF4-FFF2-40B4-BE49-F238E27FC236}">
                <a16:creationId xmlns:a16="http://schemas.microsoft.com/office/drawing/2014/main" id="{256A8C59-2479-517D-9B84-1B336C465248}"/>
              </a:ext>
            </a:extLst>
          </p:cNvPr>
          <p:cNvPicPr>
            <a:picLocks noChangeAspect="1"/>
          </p:cNvPicPr>
          <p:nvPr/>
        </p:nvPicPr>
        <p:blipFill>
          <a:blip r:embed="rId2"/>
          <a:stretch>
            <a:fillRect/>
          </a:stretch>
        </p:blipFill>
        <p:spPr>
          <a:xfrm>
            <a:off x="2276062" y="2463408"/>
            <a:ext cx="7338390" cy="3713555"/>
          </a:xfrm>
          <a:prstGeom prst="rect">
            <a:avLst/>
          </a:prstGeom>
        </p:spPr>
      </p:pic>
    </p:spTree>
    <p:extLst>
      <p:ext uri="{BB962C8B-B14F-4D97-AF65-F5344CB8AC3E}">
        <p14:creationId xmlns:p14="http://schemas.microsoft.com/office/powerpoint/2010/main" val="410210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9BAD-2B36-1349-3E89-F37223560F08}"/>
              </a:ext>
            </a:extLst>
          </p:cNvPr>
          <p:cNvSpPr>
            <a:spLocks noGrp="1"/>
          </p:cNvSpPr>
          <p:nvPr>
            <p:ph type="title"/>
          </p:nvPr>
        </p:nvSpPr>
        <p:spPr/>
        <p:txBody>
          <a:bodyPr/>
          <a:lstStyle/>
          <a:p>
            <a:r>
              <a:rPr lang="en-US" dirty="0"/>
              <a:t>How does AWS API Gateway work? (2)</a:t>
            </a:r>
          </a:p>
        </p:txBody>
      </p:sp>
      <p:sp>
        <p:nvSpPr>
          <p:cNvPr id="3" name="Content Placeholder 2">
            <a:extLst>
              <a:ext uri="{FF2B5EF4-FFF2-40B4-BE49-F238E27FC236}">
                <a16:creationId xmlns:a16="http://schemas.microsoft.com/office/drawing/2014/main" id="{A0CEB07F-F47B-EA08-524A-1D47CED5B7E5}"/>
              </a:ext>
            </a:extLst>
          </p:cNvPr>
          <p:cNvSpPr>
            <a:spLocks noGrp="1"/>
          </p:cNvSpPr>
          <p:nvPr>
            <p:ph idx="1"/>
          </p:nvPr>
        </p:nvSpPr>
        <p:spPr/>
        <p:txBody>
          <a:bodyPr>
            <a:normAutofit/>
          </a:bodyPr>
          <a:lstStyle/>
          <a:p>
            <a:r>
              <a:rPr lang="en-GB" dirty="0"/>
              <a:t>When a client makes a request to an API method, AWS API Gateway calls the authoriser lambda function. </a:t>
            </a:r>
          </a:p>
          <a:p>
            <a:pPr lvl="1"/>
            <a:r>
              <a:rPr lang="en-GB" dirty="0"/>
              <a:t>The authoriser takes the caller’s identity (context, token, request parameters) as an input and returns an IAM policy (either allowed or denied) as the output. </a:t>
            </a:r>
          </a:p>
          <a:p>
            <a:pPr lvl="1"/>
            <a:r>
              <a:rPr lang="en-GB" dirty="0"/>
              <a:t>The result is returned to API Gateway.</a:t>
            </a:r>
          </a:p>
          <a:p>
            <a:pPr lvl="1"/>
            <a:r>
              <a:rPr lang="en-GB" dirty="0"/>
              <a:t>API Gateway allows the request if the IAM policy contains an explicit allow, or denies it, if it contains an explicit deny.</a:t>
            </a:r>
          </a:p>
          <a:p>
            <a:endParaRPr lang="en-US" dirty="0"/>
          </a:p>
        </p:txBody>
      </p:sp>
    </p:spTree>
    <p:extLst>
      <p:ext uri="{BB962C8B-B14F-4D97-AF65-F5344CB8AC3E}">
        <p14:creationId xmlns:p14="http://schemas.microsoft.com/office/powerpoint/2010/main" val="3869430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A3C6C-6008-BC06-DC4A-275B6A892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3F612-9A52-5DA2-746D-FA474FB026DA}"/>
              </a:ext>
            </a:extLst>
          </p:cNvPr>
          <p:cNvSpPr>
            <a:spLocks noGrp="1"/>
          </p:cNvSpPr>
          <p:nvPr>
            <p:ph type="title"/>
          </p:nvPr>
        </p:nvSpPr>
        <p:spPr/>
        <p:txBody>
          <a:bodyPr/>
          <a:lstStyle/>
          <a:p>
            <a:r>
              <a:rPr lang="en-US" dirty="0"/>
              <a:t>AWS API Gateway Lambda </a:t>
            </a:r>
            <a:r>
              <a:rPr lang="en-US" dirty="0" err="1"/>
              <a:t>Authorisers</a:t>
            </a:r>
            <a:r>
              <a:rPr lang="en-US" dirty="0"/>
              <a:t> (1)</a:t>
            </a:r>
          </a:p>
        </p:txBody>
      </p:sp>
      <p:sp>
        <p:nvSpPr>
          <p:cNvPr id="3" name="Content Placeholder 2">
            <a:extLst>
              <a:ext uri="{FF2B5EF4-FFF2-40B4-BE49-F238E27FC236}">
                <a16:creationId xmlns:a16="http://schemas.microsoft.com/office/drawing/2014/main" id="{3C7B14AD-D340-7B83-EF54-D3811724116E}"/>
              </a:ext>
            </a:extLst>
          </p:cNvPr>
          <p:cNvSpPr>
            <a:spLocks noGrp="1"/>
          </p:cNvSpPr>
          <p:nvPr>
            <p:ph idx="1"/>
          </p:nvPr>
        </p:nvSpPr>
        <p:spPr/>
        <p:txBody>
          <a:bodyPr>
            <a:normAutofit fontScale="92500" lnSpcReduction="10000"/>
          </a:bodyPr>
          <a:lstStyle/>
          <a:p>
            <a:r>
              <a:rPr lang="en-GB" dirty="0"/>
              <a:t>A lambda authoriser can be of two types:</a:t>
            </a:r>
          </a:p>
          <a:p>
            <a:pPr lvl="1"/>
            <a:r>
              <a:rPr lang="en-GB" b="1" dirty="0"/>
              <a:t>REQUEST</a:t>
            </a:r>
            <a:r>
              <a:rPr lang="en-GB" dirty="0"/>
              <a:t> - Where the API Gateway passes request parameters to the authoriser Lambda function as part of the event object. Request parameters can include headers, path parameters, query parameters stage variables or context variables.</a:t>
            </a:r>
          </a:p>
          <a:p>
            <a:pPr lvl="1"/>
            <a:r>
              <a:rPr lang="en-GB" b="1" dirty="0"/>
              <a:t>TOKEN</a:t>
            </a:r>
            <a:r>
              <a:rPr lang="en-GB" dirty="0"/>
              <a:t> - Where we must specify a custom header as the token source when we configure the authoriser for the API. The API client must pass the required authorisation token in the header of the incoming request. Upon receiving the incoming method request, API Gateway extracts the token from the custom header. It then passes the token as the </a:t>
            </a:r>
            <a:r>
              <a:rPr lang="en-GB" dirty="0" err="1"/>
              <a:t>authorisationToken</a:t>
            </a:r>
            <a:r>
              <a:rPr lang="en-GB" dirty="0"/>
              <a:t> property of the event object of the lambda function in addition to the method ARN as the </a:t>
            </a:r>
            <a:r>
              <a:rPr lang="en-GB" dirty="0" err="1"/>
              <a:t>methodArn</a:t>
            </a:r>
            <a:r>
              <a:rPr lang="en-GB" dirty="0"/>
              <a:t> property.</a:t>
            </a:r>
          </a:p>
          <a:p>
            <a:r>
              <a:rPr lang="en-GB" dirty="0"/>
              <a:t>On this guide we focus on the </a:t>
            </a:r>
            <a:r>
              <a:rPr lang="en-GB" b="1" dirty="0"/>
              <a:t>TOKEN</a:t>
            </a:r>
            <a:r>
              <a:rPr lang="en-GB" dirty="0"/>
              <a:t> authoriser lambda. Below is an example of the event object that is passed to the authoriser lambda:</a:t>
            </a:r>
          </a:p>
          <a:p>
            <a:endParaRPr lang="en-US" dirty="0"/>
          </a:p>
        </p:txBody>
      </p:sp>
    </p:spTree>
    <p:extLst>
      <p:ext uri="{BB962C8B-B14F-4D97-AF65-F5344CB8AC3E}">
        <p14:creationId xmlns:p14="http://schemas.microsoft.com/office/powerpoint/2010/main" val="325585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B360A-9D34-2ED0-E320-1409D318C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31B48-3999-C39F-194B-E758C7022C6B}"/>
              </a:ext>
            </a:extLst>
          </p:cNvPr>
          <p:cNvSpPr>
            <a:spLocks noGrp="1"/>
          </p:cNvSpPr>
          <p:nvPr>
            <p:ph type="title"/>
          </p:nvPr>
        </p:nvSpPr>
        <p:spPr/>
        <p:txBody>
          <a:bodyPr/>
          <a:lstStyle/>
          <a:p>
            <a:r>
              <a:rPr lang="en-US" dirty="0"/>
              <a:t>AWS API Gateway Lambda </a:t>
            </a:r>
            <a:r>
              <a:rPr lang="en-US" dirty="0" err="1"/>
              <a:t>Authorisers</a:t>
            </a:r>
            <a:r>
              <a:rPr lang="en-US" dirty="0"/>
              <a:t> (2)</a:t>
            </a:r>
          </a:p>
        </p:txBody>
      </p:sp>
      <p:pic>
        <p:nvPicPr>
          <p:cNvPr id="7" name="Picture 6" descr="A diagram of a project&#10;&#10;AI-generated content may be incorrect.">
            <a:extLst>
              <a:ext uri="{FF2B5EF4-FFF2-40B4-BE49-F238E27FC236}">
                <a16:creationId xmlns:a16="http://schemas.microsoft.com/office/drawing/2014/main" id="{8FC95B0F-8972-61FE-8292-63C124AC8C73}"/>
              </a:ext>
            </a:extLst>
          </p:cNvPr>
          <p:cNvPicPr>
            <a:picLocks noChangeAspect="1"/>
          </p:cNvPicPr>
          <p:nvPr/>
        </p:nvPicPr>
        <p:blipFill>
          <a:blip r:embed="rId2"/>
          <a:stretch>
            <a:fillRect/>
          </a:stretch>
        </p:blipFill>
        <p:spPr>
          <a:xfrm>
            <a:off x="2617764" y="1596210"/>
            <a:ext cx="6078688" cy="4896665"/>
          </a:xfrm>
          <a:prstGeom prst="rect">
            <a:avLst/>
          </a:prstGeom>
        </p:spPr>
      </p:pic>
    </p:spTree>
    <p:extLst>
      <p:ext uri="{BB962C8B-B14F-4D97-AF65-F5344CB8AC3E}">
        <p14:creationId xmlns:p14="http://schemas.microsoft.com/office/powerpoint/2010/main" val="405799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8A1A0-6867-A0CB-0412-B6F897722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CCD12-A3BA-2700-A10A-184812B7D41E}"/>
              </a:ext>
            </a:extLst>
          </p:cNvPr>
          <p:cNvSpPr>
            <a:spLocks noGrp="1"/>
          </p:cNvSpPr>
          <p:nvPr>
            <p:ph type="title"/>
          </p:nvPr>
        </p:nvSpPr>
        <p:spPr/>
        <p:txBody>
          <a:bodyPr/>
          <a:lstStyle/>
          <a:p>
            <a:r>
              <a:rPr lang="en-US" dirty="0"/>
              <a:t>AWS API Gateway Lambda </a:t>
            </a:r>
            <a:r>
              <a:rPr lang="en-US" dirty="0" err="1"/>
              <a:t>Authorisers</a:t>
            </a:r>
            <a:r>
              <a:rPr lang="en-US" dirty="0"/>
              <a:t> (3)</a:t>
            </a:r>
          </a:p>
        </p:txBody>
      </p:sp>
      <p:sp>
        <p:nvSpPr>
          <p:cNvPr id="3" name="Content Placeholder 2">
            <a:extLst>
              <a:ext uri="{FF2B5EF4-FFF2-40B4-BE49-F238E27FC236}">
                <a16:creationId xmlns:a16="http://schemas.microsoft.com/office/drawing/2014/main" id="{15AFECCD-2432-F53F-2B67-164A24CB5CEA}"/>
              </a:ext>
            </a:extLst>
          </p:cNvPr>
          <p:cNvSpPr>
            <a:spLocks noGrp="1"/>
          </p:cNvSpPr>
          <p:nvPr>
            <p:ph idx="1"/>
          </p:nvPr>
        </p:nvSpPr>
        <p:spPr/>
        <p:txBody>
          <a:bodyPr>
            <a:normAutofit fontScale="92500" lnSpcReduction="10000"/>
          </a:bodyPr>
          <a:lstStyle/>
          <a:p>
            <a:r>
              <a:rPr lang="en-GB" dirty="0"/>
              <a:t>The API Gateway lambda authorisation flow works like this:</a:t>
            </a:r>
          </a:p>
          <a:p>
            <a:pPr lvl="1">
              <a:buFont typeface="+mj-lt"/>
              <a:buAutoNum type="arabicPeriod"/>
            </a:pPr>
            <a:r>
              <a:rPr lang="en-GB" dirty="0"/>
              <a:t>The client calls a method on an API Gateway API, passing a bearer token or some request parameters.</a:t>
            </a:r>
          </a:p>
          <a:p>
            <a:pPr lvl="1">
              <a:buFont typeface="+mj-lt"/>
              <a:buAutoNum type="arabicPeriod"/>
            </a:pPr>
            <a:r>
              <a:rPr lang="en-GB" dirty="0"/>
              <a:t>API Gateway checks if the method request is configured to go through the authoriser. If it is, it calls the lambda authoriser function.</a:t>
            </a:r>
          </a:p>
          <a:p>
            <a:pPr lvl="1">
              <a:buFont typeface="+mj-lt"/>
              <a:buAutoNum type="arabicPeriod"/>
            </a:pPr>
            <a:r>
              <a:rPr lang="en-GB" dirty="0"/>
              <a:t>The lambda function authenticates the caller. The lambda function returns an IAM policy and a principal identifier. If the lambda function does not return that information, the call fails. The function can authenticate in the following ways: </a:t>
            </a:r>
          </a:p>
          <a:p>
            <a:pPr marL="1200150" lvl="2" indent="-285750">
              <a:buFont typeface="+mj-lt"/>
              <a:buAutoNum type="arabicPeriod"/>
            </a:pPr>
            <a:r>
              <a:rPr lang="en-GB" dirty="0"/>
              <a:t>By calling out to an OAuth provider to get an OAuth access token (</a:t>
            </a:r>
            <a:r>
              <a:rPr lang="en-GB" dirty="0" err="1"/>
              <a:t>e.g</a:t>
            </a:r>
            <a:r>
              <a:rPr lang="en-GB" dirty="0"/>
              <a:t>, Auth0, Ping).</a:t>
            </a:r>
          </a:p>
          <a:p>
            <a:pPr marL="1200150" lvl="2" indent="-285750">
              <a:buFont typeface="+mj-lt"/>
              <a:buAutoNum type="arabicPeriod"/>
            </a:pPr>
            <a:r>
              <a:rPr lang="en-GB" dirty="0"/>
              <a:t>By calling out to a SAML provider to get a SAML assertion (</a:t>
            </a:r>
            <a:r>
              <a:rPr lang="en-GB" dirty="0" err="1"/>
              <a:t>e.g</a:t>
            </a:r>
            <a:r>
              <a:rPr lang="en-GB" dirty="0"/>
              <a:t>, Cognito).</a:t>
            </a:r>
          </a:p>
          <a:p>
            <a:pPr marL="1200150" lvl="2" indent="-285750">
              <a:buFont typeface="+mj-lt"/>
              <a:buAutoNum type="arabicPeriod"/>
            </a:pPr>
            <a:r>
              <a:rPr lang="en-GB" dirty="0"/>
              <a:t>By generating an IAM policy based on the headers and request parameter values.</a:t>
            </a:r>
          </a:p>
          <a:p>
            <a:pPr marL="1200150" lvl="2" indent="-285750">
              <a:buFont typeface="+mj-lt"/>
              <a:buAutoNum type="arabicPeriod"/>
            </a:pPr>
            <a:r>
              <a:rPr lang="en-GB" dirty="0"/>
              <a:t>By decoding a JWT token inline, using keys.</a:t>
            </a:r>
          </a:p>
          <a:p>
            <a:pPr marL="1200150" lvl="2" indent="-285750">
              <a:buFont typeface="+mj-lt"/>
              <a:buAutoNum type="arabicPeriod"/>
            </a:pPr>
            <a:r>
              <a:rPr lang="en-GB" dirty="0"/>
              <a:t>By looking up / retrieving information from a database.</a:t>
            </a:r>
          </a:p>
          <a:p>
            <a:pPr lvl="1">
              <a:buFont typeface="+mj-lt"/>
              <a:buAutoNum type="arabicPeriod"/>
            </a:pPr>
            <a:r>
              <a:rPr lang="en-GB" dirty="0"/>
              <a:t>API Gateway evaluates the IAM policy.</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57409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1ED18-EAC6-FCB2-1A06-C6FAB8454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E88F6-4221-16B3-FA58-A75A0D7AA60C}"/>
              </a:ext>
            </a:extLst>
          </p:cNvPr>
          <p:cNvSpPr>
            <a:spLocks noGrp="1"/>
          </p:cNvSpPr>
          <p:nvPr>
            <p:ph type="title"/>
          </p:nvPr>
        </p:nvSpPr>
        <p:spPr/>
        <p:txBody>
          <a:bodyPr/>
          <a:lstStyle/>
          <a:p>
            <a:r>
              <a:rPr lang="en-US" dirty="0"/>
              <a:t>AWS API Gateway Lambda </a:t>
            </a:r>
            <a:r>
              <a:rPr lang="en-US" dirty="0" err="1"/>
              <a:t>Authorisers</a:t>
            </a:r>
            <a:r>
              <a:rPr lang="en-US" dirty="0"/>
              <a:t> (4)</a:t>
            </a:r>
          </a:p>
        </p:txBody>
      </p:sp>
      <p:sp>
        <p:nvSpPr>
          <p:cNvPr id="3" name="Content Placeholder 2">
            <a:extLst>
              <a:ext uri="{FF2B5EF4-FFF2-40B4-BE49-F238E27FC236}">
                <a16:creationId xmlns:a16="http://schemas.microsoft.com/office/drawing/2014/main" id="{67581ED5-F65E-D390-4242-D2C07C6C919A}"/>
              </a:ext>
            </a:extLst>
          </p:cNvPr>
          <p:cNvSpPr>
            <a:spLocks noGrp="1"/>
          </p:cNvSpPr>
          <p:nvPr>
            <p:ph idx="1"/>
          </p:nvPr>
        </p:nvSpPr>
        <p:spPr/>
        <p:txBody>
          <a:bodyPr>
            <a:normAutofit fontScale="92500"/>
          </a:bodyPr>
          <a:lstStyle/>
          <a:p>
            <a:pPr>
              <a:buFont typeface="+mj-lt"/>
              <a:buAutoNum type="arabicPeriod" startAt="5"/>
            </a:pPr>
            <a:r>
              <a:rPr lang="en-GB" dirty="0"/>
              <a:t>If authorisation caching is enabled, API Gateway caches the policy so that the Lambda authoriser function is not invoked again to save costs. The time to live of this is configurable and set to a default of 5 minutes.</a:t>
            </a:r>
          </a:p>
          <a:p>
            <a:pPr>
              <a:buFont typeface="+mj-lt"/>
              <a:buAutoNum type="arabicPeriod" startAt="5"/>
            </a:pPr>
            <a:r>
              <a:rPr lang="en-GB" dirty="0"/>
              <a:t>Depending on the evaluation: </a:t>
            </a:r>
          </a:p>
          <a:p>
            <a:pPr lvl="1"/>
            <a:r>
              <a:rPr lang="en-GB" dirty="0"/>
              <a:t>If access is denied, API Gateway returns a suitable HTTP status code, such as: </a:t>
            </a:r>
          </a:p>
          <a:p>
            <a:pPr lvl="2"/>
            <a:r>
              <a:rPr lang="en-GB" b="1" dirty="0"/>
              <a:t>200</a:t>
            </a:r>
            <a:r>
              <a:rPr lang="en-GB" dirty="0"/>
              <a:t> - OK</a:t>
            </a:r>
          </a:p>
          <a:p>
            <a:pPr lvl="2"/>
            <a:r>
              <a:rPr lang="en-GB" b="1" dirty="0"/>
              <a:t>403</a:t>
            </a:r>
            <a:r>
              <a:rPr lang="en-GB" dirty="0"/>
              <a:t> - ACCESS_DENIED</a:t>
            </a:r>
          </a:p>
          <a:p>
            <a:pPr lvl="2"/>
            <a:r>
              <a:rPr lang="en-GB" b="1" dirty="0"/>
              <a:t>401</a:t>
            </a:r>
            <a:r>
              <a:rPr lang="en-GB" dirty="0"/>
              <a:t> - UNATUHTORISED</a:t>
            </a:r>
          </a:p>
          <a:p>
            <a:pPr lvl="2"/>
            <a:r>
              <a:rPr lang="en-GB" b="1" dirty="0"/>
              <a:t>500</a:t>
            </a:r>
            <a:r>
              <a:rPr lang="en-GB" dirty="0"/>
              <a:t> - AUTHORISER_FAILURE / AUTHORISER_CONFIGURATION_ERROR / API_CONFIGURATION_ERROR</a:t>
            </a:r>
          </a:p>
          <a:p>
            <a:pPr lvl="1"/>
            <a:r>
              <a:rPr lang="en-GB" dirty="0"/>
              <a:t>If access is allowed, API Gateway returns </a:t>
            </a:r>
            <a:r>
              <a:rPr lang="en-GB" b="1" dirty="0"/>
              <a:t>200</a:t>
            </a:r>
            <a:r>
              <a:rPr lang="en-GB" dirty="0"/>
              <a:t> - OK, and proceeds to invoke the lambda service function associated with the method.</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73017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4DD9-2E42-F66A-3710-6438F9A5B6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B247484-0064-9EAF-B724-0512CF7CCE50}"/>
              </a:ext>
            </a:extLst>
          </p:cNvPr>
          <p:cNvSpPr>
            <a:spLocks noGrp="1"/>
          </p:cNvSpPr>
          <p:nvPr>
            <p:ph type="title"/>
          </p:nvPr>
        </p:nvSpPr>
        <p:spPr>
          <a:xfrm>
            <a:off x="838200" y="2766218"/>
            <a:ext cx="10515600" cy="1325563"/>
          </a:xfrm>
        </p:spPr>
        <p:txBody>
          <a:bodyPr/>
          <a:lstStyle/>
          <a:p>
            <a:r>
              <a:rPr lang="en-US" dirty="0"/>
              <a:t>How does this look in code?</a:t>
            </a:r>
            <a:br>
              <a:rPr lang="en-US" dirty="0"/>
            </a:br>
            <a:r>
              <a:rPr lang="en-US" sz="2400" dirty="0"/>
              <a:t>Using IntelliJ Idea.</a:t>
            </a:r>
            <a:endParaRPr lang="en-US" dirty="0"/>
          </a:p>
        </p:txBody>
      </p:sp>
    </p:spTree>
    <p:extLst>
      <p:ext uri="{BB962C8B-B14F-4D97-AF65-F5344CB8AC3E}">
        <p14:creationId xmlns:p14="http://schemas.microsoft.com/office/powerpoint/2010/main" val="1643077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D969F-25A2-EE9D-4A14-87828980E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EB851-B308-0475-C54B-3AE2B0B8B8A9}"/>
              </a:ext>
            </a:extLst>
          </p:cNvPr>
          <p:cNvSpPr>
            <a:spLocks noGrp="1"/>
          </p:cNvSpPr>
          <p:nvPr>
            <p:ph type="title"/>
          </p:nvPr>
        </p:nvSpPr>
        <p:spPr/>
        <p:txBody>
          <a:bodyPr/>
          <a:lstStyle/>
          <a:p>
            <a:r>
              <a:rPr lang="en-US" dirty="0"/>
              <a:t>Other AWS API Gateway features</a:t>
            </a:r>
          </a:p>
        </p:txBody>
      </p:sp>
      <p:sp>
        <p:nvSpPr>
          <p:cNvPr id="3" name="Content Placeholder 2">
            <a:extLst>
              <a:ext uri="{FF2B5EF4-FFF2-40B4-BE49-F238E27FC236}">
                <a16:creationId xmlns:a16="http://schemas.microsoft.com/office/drawing/2014/main" id="{0FF8B76A-5B58-A5A0-AC98-6A74757606B5}"/>
              </a:ext>
            </a:extLst>
          </p:cNvPr>
          <p:cNvSpPr>
            <a:spLocks noGrp="1"/>
          </p:cNvSpPr>
          <p:nvPr>
            <p:ph idx="1"/>
          </p:nvPr>
        </p:nvSpPr>
        <p:spPr/>
        <p:txBody>
          <a:bodyPr>
            <a:normAutofit/>
          </a:bodyPr>
          <a:lstStyle/>
          <a:p>
            <a:r>
              <a:rPr lang="en-US" dirty="0"/>
              <a:t>We will have a look at these in AWS:</a:t>
            </a:r>
          </a:p>
          <a:p>
            <a:pPr lvl="1"/>
            <a:r>
              <a:rPr lang="en-US" dirty="0"/>
              <a:t>Importing API definitions via Swagger.</a:t>
            </a:r>
          </a:p>
          <a:p>
            <a:pPr lvl="1"/>
            <a:r>
              <a:rPr lang="en-US" dirty="0"/>
              <a:t>Various types of integrations with back end (</a:t>
            </a:r>
            <a:r>
              <a:rPr lang="en-US" dirty="0" err="1"/>
              <a:t>e.g</a:t>
            </a:r>
            <a:r>
              <a:rPr lang="en-US" dirty="0"/>
              <a:t> lambdas or private link);</a:t>
            </a:r>
          </a:p>
          <a:p>
            <a:pPr lvl="1"/>
            <a:r>
              <a:rPr lang="en-US" dirty="0"/>
              <a:t>Api Keys.</a:t>
            </a:r>
          </a:p>
          <a:p>
            <a:pPr lvl="1"/>
            <a:r>
              <a:rPr lang="en-US" dirty="0"/>
              <a:t>Caching.</a:t>
            </a:r>
          </a:p>
          <a:p>
            <a:pPr lvl="1"/>
            <a:r>
              <a:rPr lang="en-US" dirty="0"/>
              <a:t>Validation.</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79727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18B7-20C1-168D-9C37-D43A60F4AD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E97CD8-BE03-83EA-05C2-6666F2E29F86}"/>
              </a:ext>
            </a:extLst>
          </p:cNvPr>
          <p:cNvSpPr>
            <a:spLocks noGrp="1"/>
          </p:cNvSpPr>
          <p:nvPr>
            <p:ph type="title"/>
          </p:nvPr>
        </p:nvSpPr>
        <p:spPr>
          <a:xfrm>
            <a:off x="838200" y="2766218"/>
            <a:ext cx="10515600" cy="1325563"/>
          </a:xfrm>
        </p:spPr>
        <p:txBody>
          <a:bodyPr/>
          <a:lstStyle/>
          <a:p>
            <a:r>
              <a:rPr lang="en-US" dirty="0"/>
              <a:t>Playground time.</a:t>
            </a:r>
            <a:br>
              <a:rPr lang="en-US" dirty="0"/>
            </a:br>
            <a:r>
              <a:rPr lang="en-US" sz="2400" dirty="0"/>
              <a:t>Using O’Reilly Sandbox. </a:t>
            </a:r>
            <a:r>
              <a:rPr lang="en-US" sz="2400" dirty="0">
                <a:sym typeface="Wingdings" pitchFamily="2" charset="2"/>
              </a:rPr>
              <a:t></a:t>
            </a:r>
            <a:endParaRPr lang="en-US" dirty="0"/>
          </a:p>
        </p:txBody>
      </p:sp>
    </p:spTree>
    <p:extLst>
      <p:ext uri="{BB962C8B-B14F-4D97-AF65-F5344CB8AC3E}">
        <p14:creationId xmlns:p14="http://schemas.microsoft.com/office/powerpoint/2010/main" val="3850302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D01C4-02D7-574C-DA1A-B4B08F510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5FAFB-9865-0070-2653-AA43884D81E8}"/>
              </a:ext>
            </a:extLst>
          </p:cNvPr>
          <p:cNvSpPr>
            <a:spLocks noGrp="1"/>
          </p:cNvSpPr>
          <p:nvPr>
            <p:ph type="title"/>
          </p:nvPr>
        </p:nvSpPr>
        <p:spPr/>
        <p:txBody>
          <a:bodyPr/>
          <a:lstStyle/>
          <a:p>
            <a:r>
              <a:rPr lang="en-US" dirty="0"/>
              <a:t>Where do we find the documentation for this</a:t>
            </a:r>
            <a:br>
              <a:rPr lang="en-US" dirty="0"/>
            </a:br>
            <a:r>
              <a:rPr lang="en-US" dirty="0"/>
              <a:t>service?</a:t>
            </a:r>
          </a:p>
        </p:txBody>
      </p:sp>
      <p:sp>
        <p:nvSpPr>
          <p:cNvPr id="3" name="Content Placeholder 2">
            <a:extLst>
              <a:ext uri="{FF2B5EF4-FFF2-40B4-BE49-F238E27FC236}">
                <a16:creationId xmlns:a16="http://schemas.microsoft.com/office/drawing/2014/main" id="{644512B8-246D-CF96-73E9-A32F82C0329E}"/>
              </a:ext>
            </a:extLst>
          </p:cNvPr>
          <p:cNvSpPr>
            <a:spLocks noGrp="1"/>
          </p:cNvSpPr>
          <p:nvPr>
            <p:ph idx="1"/>
          </p:nvPr>
        </p:nvSpPr>
        <p:spPr/>
        <p:txBody>
          <a:bodyPr>
            <a:normAutofit/>
          </a:bodyPr>
          <a:lstStyle/>
          <a:p>
            <a:r>
              <a:rPr lang="en-US" b="1" dirty="0"/>
              <a:t>Amazon Developer </a:t>
            </a:r>
            <a:r>
              <a:rPr lang="en-US" dirty="0"/>
              <a:t>Documentation: https://</a:t>
            </a:r>
            <a:r>
              <a:rPr lang="en-US" dirty="0" err="1"/>
              <a:t>docs.aws.amazon.com</a:t>
            </a:r>
            <a:r>
              <a:rPr lang="en-US" dirty="0"/>
              <a:t>/</a:t>
            </a:r>
            <a:r>
              <a:rPr lang="en-US" dirty="0" err="1"/>
              <a:t>apigateway</a:t>
            </a:r>
            <a:r>
              <a:rPr lang="en-US" dirty="0"/>
              <a:t>/latest/</a:t>
            </a:r>
            <a:r>
              <a:rPr lang="en-US" dirty="0" err="1"/>
              <a:t>developerguide</a:t>
            </a:r>
            <a:r>
              <a:rPr lang="en-US" dirty="0"/>
              <a:t>/</a:t>
            </a:r>
            <a:r>
              <a:rPr lang="en-US" dirty="0" err="1"/>
              <a:t>apigateway</a:t>
            </a:r>
            <a:r>
              <a:rPr lang="en-US" dirty="0"/>
              <a:t>-rest-</a:t>
            </a:r>
            <a:r>
              <a:rPr lang="en-US" dirty="0" err="1"/>
              <a:t>api.html</a:t>
            </a:r>
            <a:endParaRPr lang="en-US" dirty="0"/>
          </a:p>
          <a:p>
            <a:pPr lvl="1"/>
            <a:endParaRPr lang="en-US" dirty="0"/>
          </a:p>
          <a:p>
            <a:r>
              <a:rPr lang="en-US" b="1" dirty="0"/>
              <a:t>Terraform</a:t>
            </a:r>
            <a:r>
              <a:rPr lang="en-US" dirty="0"/>
              <a:t> documentation with regarding AWS API Gateway:</a:t>
            </a:r>
          </a:p>
          <a:p>
            <a:pPr lvl="1"/>
            <a:r>
              <a:rPr lang="en-US" dirty="0"/>
              <a:t>https://</a:t>
            </a:r>
            <a:r>
              <a:rPr lang="en-US" dirty="0" err="1"/>
              <a:t>registry.terraform.io</a:t>
            </a:r>
            <a:r>
              <a:rPr lang="en-US" dirty="0"/>
              <a:t>/providers/</a:t>
            </a:r>
            <a:r>
              <a:rPr lang="en-US" dirty="0" err="1"/>
              <a:t>hashicorp</a:t>
            </a:r>
            <a:r>
              <a:rPr lang="en-US" dirty="0"/>
              <a:t>/</a:t>
            </a:r>
            <a:r>
              <a:rPr lang="en-US" dirty="0" err="1"/>
              <a:t>aws</a:t>
            </a:r>
            <a:r>
              <a:rPr lang="en-US" dirty="0"/>
              <a:t>/latest/docs/resources/</a:t>
            </a:r>
            <a:r>
              <a:rPr lang="en-US" dirty="0" err="1"/>
              <a:t>api_gateway_rest_api</a:t>
            </a:r>
            <a:endParaRPr lang="en-US" dirty="0"/>
          </a:p>
        </p:txBody>
      </p:sp>
    </p:spTree>
    <p:extLst>
      <p:ext uri="{BB962C8B-B14F-4D97-AF65-F5344CB8AC3E}">
        <p14:creationId xmlns:p14="http://schemas.microsoft.com/office/powerpoint/2010/main" val="1557223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EE85-DFFA-5F05-F8BD-E60005A2C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A5326-CF41-F0AE-CD60-34F5AB97F7EC}"/>
              </a:ext>
            </a:extLst>
          </p:cNvPr>
          <p:cNvSpPr>
            <a:spLocks noGrp="1"/>
          </p:cNvSpPr>
          <p:nvPr>
            <p:ph type="title"/>
          </p:nvPr>
        </p:nvSpPr>
        <p:spPr/>
        <p:txBody>
          <a:bodyPr/>
          <a:lstStyle/>
          <a:p>
            <a:r>
              <a:rPr lang="en-US" dirty="0"/>
              <a:t>Roadmap – starting next Quarter.</a:t>
            </a:r>
          </a:p>
        </p:txBody>
      </p:sp>
      <p:sp>
        <p:nvSpPr>
          <p:cNvPr id="3" name="Content Placeholder 2">
            <a:extLst>
              <a:ext uri="{FF2B5EF4-FFF2-40B4-BE49-F238E27FC236}">
                <a16:creationId xmlns:a16="http://schemas.microsoft.com/office/drawing/2014/main" id="{F3B095FE-7B37-E1D5-CD1F-C5D9A524056C}"/>
              </a:ext>
            </a:extLst>
          </p:cNvPr>
          <p:cNvSpPr>
            <a:spLocks noGrp="1"/>
          </p:cNvSpPr>
          <p:nvPr>
            <p:ph idx="1"/>
          </p:nvPr>
        </p:nvSpPr>
        <p:spPr/>
        <p:txBody>
          <a:bodyPr>
            <a:normAutofit/>
          </a:bodyPr>
          <a:lstStyle/>
          <a:p>
            <a:r>
              <a:rPr lang="en-US" dirty="0"/>
              <a:t>Create an instance of our API Gateway (no resources at this stage);</a:t>
            </a:r>
          </a:p>
          <a:p>
            <a:pPr lvl="1"/>
            <a:r>
              <a:rPr lang="en-US" dirty="0"/>
              <a:t>Link it to AWS WAF;</a:t>
            </a:r>
          </a:p>
          <a:p>
            <a:pPr lvl="1"/>
            <a:r>
              <a:rPr lang="en-US" dirty="0"/>
              <a:t>Create various API Keys;</a:t>
            </a:r>
          </a:p>
          <a:p>
            <a:pPr lvl="1"/>
            <a:r>
              <a:rPr lang="en-US" dirty="0"/>
              <a:t>Setup caching;</a:t>
            </a:r>
          </a:p>
          <a:p>
            <a:pPr lvl="1"/>
            <a:r>
              <a:rPr lang="en-US" dirty="0"/>
              <a:t>Have the code as </a:t>
            </a:r>
            <a:r>
              <a:rPr lang="en-US" dirty="0" err="1"/>
              <a:t>IaC</a:t>
            </a:r>
            <a:r>
              <a:rPr lang="en-US" dirty="0"/>
              <a:t> to be able to deploy it in multiple environments;</a:t>
            </a:r>
          </a:p>
          <a:p>
            <a:r>
              <a:rPr lang="en-US" dirty="0"/>
              <a:t>Create authorizer lambda (even if we do not have a clear path around how we are going to handle authorization);</a:t>
            </a:r>
          </a:p>
          <a:p>
            <a:r>
              <a:rPr lang="en-US" dirty="0"/>
              <a:t>Attempt to do Postcode Address Finder / or other simpler APIs;</a:t>
            </a:r>
          </a:p>
          <a:p>
            <a:endParaRPr lang="en-US" dirty="0"/>
          </a:p>
        </p:txBody>
      </p:sp>
    </p:spTree>
    <p:extLst>
      <p:ext uri="{BB962C8B-B14F-4D97-AF65-F5344CB8AC3E}">
        <p14:creationId xmlns:p14="http://schemas.microsoft.com/office/powerpoint/2010/main" val="3973505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6148-0278-E1CF-542E-5A04729040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14EE1F1-FAF0-1FEC-9A00-CA21C07B3C3F}"/>
              </a:ext>
            </a:extLst>
          </p:cNvPr>
          <p:cNvSpPr>
            <a:spLocks noGrp="1"/>
          </p:cNvSpPr>
          <p:nvPr>
            <p:ph type="title"/>
          </p:nvPr>
        </p:nvSpPr>
        <p:spPr>
          <a:xfrm>
            <a:off x="838200" y="2766218"/>
            <a:ext cx="10515600" cy="1325563"/>
          </a:xfrm>
        </p:spPr>
        <p:txBody>
          <a:bodyPr/>
          <a:lstStyle/>
          <a:p>
            <a:r>
              <a:rPr lang="en-US" dirty="0"/>
              <a:t>Q/A</a:t>
            </a:r>
            <a:br>
              <a:rPr lang="en-US" dirty="0"/>
            </a:br>
            <a:r>
              <a:rPr lang="en-US" sz="2400" dirty="0"/>
              <a:t>Questions &amp; Answers</a:t>
            </a:r>
            <a:endParaRPr lang="en-US" dirty="0"/>
          </a:p>
        </p:txBody>
      </p:sp>
    </p:spTree>
    <p:extLst>
      <p:ext uri="{BB962C8B-B14F-4D97-AF65-F5344CB8AC3E}">
        <p14:creationId xmlns:p14="http://schemas.microsoft.com/office/powerpoint/2010/main" val="3669944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DD53-1ACB-BE35-5BE5-65C92D81D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FE7B6-0870-4128-94FA-329BA1ADB3BF}"/>
              </a:ext>
            </a:extLst>
          </p:cNvPr>
          <p:cNvSpPr>
            <a:spLocks noGrp="1"/>
          </p:cNvSpPr>
          <p:nvPr>
            <p:ph type="title"/>
          </p:nvPr>
        </p:nvSpPr>
        <p:spPr/>
        <p:txBody>
          <a:bodyPr/>
          <a:lstStyle/>
          <a:p>
            <a:r>
              <a:rPr lang="en-US" dirty="0"/>
              <a:t>Upcoming workshops</a:t>
            </a:r>
          </a:p>
        </p:txBody>
      </p:sp>
      <p:sp>
        <p:nvSpPr>
          <p:cNvPr id="3" name="Content Placeholder 2">
            <a:extLst>
              <a:ext uri="{FF2B5EF4-FFF2-40B4-BE49-F238E27FC236}">
                <a16:creationId xmlns:a16="http://schemas.microsoft.com/office/drawing/2014/main" id="{07899B47-578A-E993-7676-6258BB30B19F}"/>
              </a:ext>
            </a:extLst>
          </p:cNvPr>
          <p:cNvSpPr>
            <a:spLocks noGrp="1"/>
          </p:cNvSpPr>
          <p:nvPr>
            <p:ph idx="1"/>
          </p:nvPr>
        </p:nvSpPr>
        <p:spPr/>
        <p:txBody>
          <a:bodyPr/>
          <a:lstStyle/>
          <a:p>
            <a:pPr marL="0" indent="0">
              <a:buNone/>
            </a:pPr>
            <a:r>
              <a:rPr lang="en-US" dirty="0"/>
              <a:t>Highlighted – AWS Lambda Functions – w/c 3</a:t>
            </a:r>
            <a:r>
              <a:rPr lang="en-US" baseline="30000" dirty="0"/>
              <a:t>rd</a:t>
            </a:r>
            <a:r>
              <a:rPr lang="en-US" dirty="0"/>
              <a:t>  of March</a:t>
            </a:r>
          </a:p>
        </p:txBody>
      </p:sp>
      <p:pic>
        <p:nvPicPr>
          <p:cNvPr id="4" name="Picture 3">
            <a:extLst>
              <a:ext uri="{FF2B5EF4-FFF2-40B4-BE49-F238E27FC236}">
                <a16:creationId xmlns:a16="http://schemas.microsoft.com/office/drawing/2014/main" id="{B455FE4C-A05A-DBBF-6732-E491E2CDBD3D}"/>
              </a:ext>
            </a:extLst>
          </p:cNvPr>
          <p:cNvPicPr>
            <a:picLocks noChangeAspect="1"/>
          </p:cNvPicPr>
          <p:nvPr/>
        </p:nvPicPr>
        <p:blipFill>
          <a:blip r:embed="rId2"/>
          <a:stretch>
            <a:fillRect/>
          </a:stretch>
        </p:blipFill>
        <p:spPr>
          <a:xfrm>
            <a:off x="1579315" y="2607276"/>
            <a:ext cx="8808023" cy="2718485"/>
          </a:xfrm>
          <a:prstGeom prst="rect">
            <a:avLst/>
          </a:prstGeom>
        </p:spPr>
      </p:pic>
      <p:sp>
        <p:nvSpPr>
          <p:cNvPr id="38" name="Oval 37">
            <a:extLst>
              <a:ext uri="{FF2B5EF4-FFF2-40B4-BE49-F238E27FC236}">
                <a16:creationId xmlns:a16="http://schemas.microsoft.com/office/drawing/2014/main" id="{B8C3F5B7-FB79-BAD8-5248-29001089267E}"/>
              </a:ext>
            </a:extLst>
          </p:cNvPr>
          <p:cNvSpPr/>
          <p:nvPr/>
        </p:nvSpPr>
        <p:spPr>
          <a:xfrm>
            <a:off x="7967160" y="3966518"/>
            <a:ext cx="2579914" cy="10776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948325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fcacc7f-c000-49fc-98f0-0eebc7e1e61d}" enabled="1" method="Standard" siteId="{bce3f16a-29b1-444a-afde-a7b86e45a778}" contentBits="2" removed="0"/>
</clbl:labelList>
</file>

<file path=docProps/app.xml><?xml version="1.0" encoding="utf-8"?>
<Properties xmlns="http://schemas.openxmlformats.org/officeDocument/2006/extended-properties" xmlns:vt="http://schemas.openxmlformats.org/officeDocument/2006/docPropsVTypes">
  <TotalTime>469</TotalTime>
  <Words>1074</Words>
  <Application>Microsoft Macintosh PowerPoint</Application>
  <PresentationFormat>Widescreen</PresentationFormat>
  <Paragraphs>86</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Amazon Ember</vt:lpstr>
      <vt:lpstr>Aptos</vt:lpstr>
      <vt:lpstr>Aptos Display</vt:lpstr>
      <vt:lpstr>Arial</vt:lpstr>
      <vt:lpstr>Calibri</vt:lpstr>
      <vt:lpstr>Wingdings</vt:lpstr>
      <vt:lpstr>Office Theme</vt:lpstr>
      <vt:lpstr>AWS API Gateway</vt:lpstr>
      <vt:lpstr>What is AWS API Gateway? (1)</vt:lpstr>
      <vt:lpstr>What is AWS API Gateway? (2)</vt:lpstr>
      <vt:lpstr>Why do we need AWS API Gateway?</vt:lpstr>
      <vt:lpstr>Where does AWS API Gateway sit in the existing landscape? (1)</vt:lpstr>
      <vt:lpstr>Where does AWS API Gateway sit in the existing landscape? (2)</vt:lpstr>
      <vt:lpstr>How does AWS API Gateway work? (1)</vt:lpstr>
      <vt:lpstr>How does AWS API Gateway work? (2)</vt:lpstr>
      <vt:lpstr>AWS API Gateway Lambda Authorisers (1)</vt:lpstr>
      <vt:lpstr>AWS API Gateway Lambda Authorisers (2)</vt:lpstr>
      <vt:lpstr>AWS API Gateway Lambda Authorisers (3)</vt:lpstr>
      <vt:lpstr>AWS API Gateway Lambda Authorisers (4)</vt:lpstr>
      <vt:lpstr>How does this look in code? Using IntelliJ Idea.</vt:lpstr>
      <vt:lpstr>Other AWS API Gateway features</vt:lpstr>
      <vt:lpstr>Playground time. Using O’Reilly Sandbox. </vt:lpstr>
      <vt:lpstr>Where do we find the documentation for this service?</vt:lpstr>
      <vt:lpstr>Roadmap – starting next Quarter.</vt:lpstr>
      <vt:lpstr>Q/A Questions &amp; Answers</vt:lpstr>
      <vt:lpstr>Upcoming workshops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Radu Tutunaru</dc:creator>
  <cp:lastModifiedBy>Tutunaru, Radu-Marian (Tesco IMS)</cp:lastModifiedBy>
  <cp:revision>6</cp:revision>
  <dcterms:created xsi:type="dcterms:W3CDTF">2025-02-17T22:31:41Z</dcterms:created>
  <dcterms:modified xsi:type="dcterms:W3CDTF">2025-02-24T12:15:21Z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Data Classification: Amber</vt:lpwstr>
  </property>
</Properties>
</file>