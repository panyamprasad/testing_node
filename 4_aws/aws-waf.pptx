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7" r:id="rId11"/>
    <p:sldId id="268" r:id="rId12"/>
    <p:sldId id="271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07"/>
    <p:restoredTop sz="94717"/>
  </p:normalViewPr>
  <p:slideViewPr>
    <p:cSldViewPr snapToGrid="0">
      <p:cViewPr varScale="1">
        <p:scale>
          <a:sx n="118" d="100"/>
          <a:sy n="118" d="100"/>
        </p:scale>
        <p:origin x="72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0CCD4-8E4E-6116-65A1-18C88A4D5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431287-1CD8-A310-5CE4-0ABD74B34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28B75-9EBE-1693-B7DC-12A538422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DEBE-1438-0A4F-83D7-EC74AA0F8AFF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5FA74-787A-5DEA-5773-DE0E9BF35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D03A2-B416-0976-D2E8-14227B436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83C-E827-8A4F-A74C-90763AC22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46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460DF-9DA6-C65C-70FB-EDFF30F38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A7AA2-510A-0640-3D84-CD6A1E666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A6CBC-892D-BB8B-2E9B-6D2228604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DEBE-1438-0A4F-83D7-EC74AA0F8AFF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8816D-F105-A130-D454-5AA1D65E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B88C4-40EA-C047-1BF1-C48EC4865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83C-E827-8A4F-A74C-90763AC22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38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BDBE0-A783-995A-84DF-5F3B9D7D0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E63C1-ADAF-0C59-9A71-86E4B1219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21E36-E5E9-F423-36C6-0798C5DB4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DEBE-1438-0A4F-83D7-EC74AA0F8AFF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83DA7-1420-4D1B-3D5C-88DBDF624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8DCE9-376C-B270-F4FE-6442C6BF4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83C-E827-8A4F-A74C-90763AC22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1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386D-ABDD-365D-77E1-C334E462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DA545-F41E-D260-6367-4857DB4588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3C394-231D-F5EC-FC8C-96BE15BBB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47CDC-AE0E-FB0A-797B-F8E770B79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DEBE-1438-0A4F-83D7-EC74AA0F8AFF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2B103-66C9-6902-E58E-E27579980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04DDC-E82D-2073-A0F5-72087F683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83C-E827-8A4F-A74C-90763AC22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04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BF7F8-F1D7-4592-4CB6-EDEDC4110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34057-88DC-BEBA-4AEA-1D5E3518B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643FB-8628-CEC6-8B3D-687B8265C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F49FB5-D4F6-B61E-F15E-02D6E44EE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5E5465-8922-E5D7-78F1-FE67EB11D1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E8AD0C-9ECE-09C2-19E7-93B5E8917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DEBE-1438-0A4F-83D7-EC74AA0F8AFF}" type="datetimeFigureOut">
              <a:rPr lang="en-US" smtClean="0"/>
              <a:t>2/18/25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616A3-67FC-4415-C597-B8818E357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A59D8C-242A-7B74-FA62-CCCD0AA0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83C-E827-8A4F-A74C-90763AC22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30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34837-2EDA-48F7-4E31-259F1453A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99CB8-7408-ADAF-6F92-0184EBC92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DEBE-1438-0A4F-83D7-EC74AA0F8AFF}" type="datetimeFigureOut">
              <a:rPr lang="en-US" smtClean="0"/>
              <a:t>2/18/25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487D6-6C9B-776C-2F50-B793AD4B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B77A5E-E4AD-2527-89F9-88A5342B5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83C-E827-8A4F-A74C-90763AC22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8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A30709-970A-DA7E-4F73-FCD5058F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DEBE-1438-0A4F-83D7-EC74AA0F8AFF}" type="datetimeFigureOut">
              <a:rPr lang="en-US" smtClean="0"/>
              <a:t>2/18/25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49FA8A-5228-CCCD-00E7-4C4141AA1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1CECB-6E8E-7F60-EA12-93ACA904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83C-E827-8A4F-A74C-90763AC22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737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6AC6-9BE0-4DF6-A8EC-B08105176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4E644-8DA3-66BA-967C-90D2497EE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21341-CBEC-5F2A-3E99-FE348915A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2EE5C-0E7D-DDD4-66AC-1C0AD179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DEBE-1438-0A4F-83D7-EC74AA0F8AFF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2E538-78EC-AE48-6C84-ACCECDDBE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11018-E5DD-B701-1A89-3B9239A5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83C-E827-8A4F-A74C-90763AC22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20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90A0-B8E1-8C55-0C04-F186913FC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80AB2-BF75-0DFD-EE1A-98BF82DC46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20A80-58F8-8AE8-6175-58243E689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CF4F6-F60F-6B3A-B003-0AF17C94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DEBE-1438-0A4F-83D7-EC74AA0F8AFF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AEA37-A4B1-D3C0-3F81-49D03D73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6B772-EDE0-0A73-F969-DF760E1E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83C-E827-8A4F-A74C-90763AC22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87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3D993-9D6E-03DE-7F23-325D78B56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1EBD7-74CC-1759-726B-517C2E58A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59292-DEB6-C3FD-C24B-414A5AAA6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DEBE-1438-0A4F-83D7-EC74AA0F8AFF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0E1B4-A8D2-A34A-7925-63D294AF5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913AE-E42E-1452-86F0-C85069A7F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83C-E827-8A4F-A74C-90763AC22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1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A75BC8-FA6D-5975-852A-9E0C34973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E6BB11-8DB3-251E-FD8C-67526639D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0C468-15B3-3A30-CEC6-0D783C02E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DEBE-1438-0A4F-83D7-EC74AA0F8AFF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D3FB6-D113-82A6-1826-4EB7A2AD0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F622E-020D-BCF9-4FB5-FBCE81E3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83C-E827-8A4F-A74C-90763AC22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17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64D898-C050-1DB6-CEFE-E2C8BE64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F4C37-CCF4-2A1C-A123-2BBBF32FA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3A98D-B166-13B1-FD50-95D81B9C5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54DEBE-1438-0A4F-83D7-EC74AA0F8AFF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18DB4-30EC-69EE-9E45-4D607651A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16C4D-D621-7E6B-F881-33A12077CB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6683C-E827-8A4F-A74C-90763AC22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8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egistry.terraform.io/providers/hashicorp/aws/latest/docs/resources/wafv2_web_acl" TargetMode="External"/><Relationship Id="rId2" Type="http://schemas.openxmlformats.org/officeDocument/2006/relationships/hyperlink" Target="https://docs.aws.amazon.com/waf/latest/developerguide/waf-chapter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egistry.terraform.io/providers/hashicorp/aws/latest/docs/resources/wafv2_web_acl_association" TargetMode="External"/><Relationship Id="rId4" Type="http://schemas.openxmlformats.org/officeDocument/2006/relationships/hyperlink" Target="https://registry.terraform.io/providers/hashicorp/aws/latest/docs/resources/wafv2_rule_group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FC63-FDE4-C490-6291-054CB5D8D9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AWS WAF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D837E-2CF4-FEAA-B348-0A25C1B167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API &amp; Services - Engineering Workshop 1</a:t>
            </a:r>
          </a:p>
          <a:p>
            <a:r>
              <a:rPr lang="en-US" dirty="0"/>
              <a:t>Tuesday, 18</a:t>
            </a:r>
            <a:r>
              <a:rPr lang="en-US" baseline="30000" dirty="0"/>
              <a:t>th</a:t>
            </a:r>
            <a:r>
              <a:rPr lang="en-US" dirty="0"/>
              <a:t> of February 2025</a:t>
            </a:r>
          </a:p>
        </p:txBody>
      </p:sp>
    </p:spTree>
    <p:extLst>
      <p:ext uri="{BB962C8B-B14F-4D97-AF65-F5344CB8AC3E}">
        <p14:creationId xmlns:p14="http://schemas.microsoft.com/office/powerpoint/2010/main" val="54323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8AB84-4FDA-EF7E-4955-9A806BBA5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AWS WAF?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76D0D-79C7-703B-2E2A-47F31B8D8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 nutshell, WAF lets us control access to our content.</a:t>
            </a:r>
          </a:p>
          <a:p>
            <a:pPr lvl="1"/>
            <a:r>
              <a:rPr lang="en-US" dirty="0"/>
              <a:t>WAF or Web Application Firewall is an AWS service that help us protect application and services from traffic issues such as bad actors (3</a:t>
            </a:r>
            <a:r>
              <a:rPr lang="en-US" baseline="30000" dirty="0"/>
              <a:t>rd</a:t>
            </a:r>
            <a:r>
              <a:rPr lang="en-US" dirty="0"/>
              <a:t> party agents, bots) or common attack patterns (such as SQL injection or XSS - - cross site scripting).</a:t>
            </a:r>
          </a:p>
          <a:p>
            <a:r>
              <a:rPr lang="en-US" dirty="0"/>
              <a:t>It has integrations with various AWS cloud services such as:</a:t>
            </a:r>
          </a:p>
          <a:p>
            <a:pPr lvl="1"/>
            <a:r>
              <a:rPr lang="en-US" dirty="0"/>
              <a:t>Cloud Front Distributions (Web Applications);</a:t>
            </a:r>
          </a:p>
          <a:p>
            <a:pPr lvl="1"/>
            <a:r>
              <a:rPr lang="en-US" dirty="0"/>
              <a:t>AWS API Gateway (Only for REST APIs);</a:t>
            </a:r>
          </a:p>
          <a:p>
            <a:pPr lvl="1"/>
            <a:r>
              <a:rPr lang="en-US" dirty="0"/>
              <a:t>AWS AppSync (AWS’s Graph QL equivalent);</a:t>
            </a:r>
          </a:p>
          <a:p>
            <a:pPr lvl="1"/>
            <a:r>
              <a:rPr lang="en-US" dirty="0"/>
              <a:t>Load Balancers (Middleware that distributes traffic to different servers);</a:t>
            </a:r>
          </a:p>
          <a:p>
            <a:pPr lvl="1"/>
            <a:r>
              <a:rPr lang="en-US" dirty="0"/>
              <a:t>And others …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999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7D066-E807-5E31-55DF-84564234F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AWS WAF?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5DEDA-E447-9330-622B-C5DA97B90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APIGee</a:t>
            </a:r>
            <a:r>
              <a:rPr lang="en-US" dirty="0"/>
              <a:t> Edge, we have the pre-request flow which is made of similar functionalities to AWS WAF.</a:t>
            </a:r>
          </a:p>
          <a:p>
            <a:r>
              <a:rPr lang="en-US" dirty="0"/>
              <a:t>There are rules defined by BBUK to handle requests that might contain XSS / SQL injections.</a:t>
            </a:r>
          </a:p>
          <a:p>
            <a:pPr lvl="1"/>
            <a:r>
              <a:rPr lang="en-US" b="1" u="sng" dirty="0"/>
              <a:t>Note:</a:t>
            </a:r>
            <a:r>
              <a:rPr lang="en-US" b="1" dirty="0"/>
              <a:t> </a:t>
            </a:r>
            <a:r>
              <a:rPr lang="en-US" dirty="0"/>
              <a:t>Edge also has rules for rate-limiting &amp; throttling. We can use WAF for these or we can use a combination between WAF and API Gateway (more about that next week when we discuss API Keys); </a:t>
            </a:r>
          </a:p>
        </p:txBody>
      </p:sp>
    </p:spTree>
    <p:extLst>
      <p:ext uri="{BB962C8B-B14F-4D97-AF65-F5344CB8AC3E}">
        <p14:creationId xmlns:p14="http://schemas.microsoft.com/office/powerpoint/2010/main" val="2290198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4463D-5636-7A7F-5BF8-EF6BEC7E5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A4EEC-15DF-CD4F-6CB0-4F5316F30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AWS WAF work?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3AAB5-A7CF-48B6-47C6-3E3C5FA8F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WAF works by leveraging web ACLs (Access Control Lists). </a:t>
            </a:r>
          </a:p>
          <a:p>
            <a:r>
              <a:rPr lang="en-US" dirty="0"/>
              <a:t>Access Control Lists are made from rules or rule groups. An ACL gives us fine-grained control over all the HTTP(s) web request that our protected resource responds to.</a:t>
            </a:r>
          </a:p>
          <a:p>
            <a:r>
              <a:rPr lang="en-US" dirty="0"/>
              <a:t>Types of rules:</a:t>
            </a:r>
          </a:p>
          <a:p>
            <a:pPr lvl="1"/>
            <a:r>
              <a:rPr lang="en-US" dirty="0"/>
              <a:t>IP address origin of the request.</a:t>
            </a:r>
          </a:p>
          <a:p>
            <a:pPr lvl="1"/>
            <a:r>
              <a:rPr lang="en-US" dirty="0"/>
              <a:t>Country of origin of the request.</a:t>
            </a:r>
          </a:p>
          <a:p>
            <a:pPr lvl="1"/>
            <a:r>
              <a:rPr lang="en-US" dirty="0"/>
              <a:t>String match or regex match in part of the request (like EDGE).</a:t>
            </a:r>
          </a:p>
          <a:p>
            <a:pPr lvl="1"/>
            <a:r>
              <a:rPr lang="en-US" dirty="0"/>
              <a:t>Size of a particular request.</a:t>
            </a:r>
          </a:p>
          <a:p>
            <a:pPr lvl="1"/>
            <a:r>
              <a:rPr lang="en-US" dirty="0"/>
              <a:t>Detection of malicious code (SQL or scripting).</a:t>
            </a:r>
          </a:p>
          <a:p>
            <a:pPr lvl="1"/>
            <a:r>
              <a:rPr lang="en-US" dirty="0"/>
              <a:t>Other OWASP Top 10 rule sets.</a:t>
            </a:r>
          </a:p>
        </p:txBody>
      </p:sp>
    </p:spTree>
    <p:extLst>
      <p:ext uri="{BB962C8B-B14F-4D97-AF65-F5344CB8AC3E}">
        <p14:creationId xmlns:p14="http://schemas.microsoft.com/office/powerpoint/2010/main" val="4102109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B360A-9D34-2ED0-E320-1409D318C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31B48-3999-C39F-194B-E758C7022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AWS WAF work?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CD0F9-C352-0B06-84A5-4B3134536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We would need to have an AWS API Gateway - RESTful instance (</a:t>
            </a:r>
            <a:r>
              <a:rPr lang="en-US" b="1" u="sng" dirty="0"/>
              <a:t>Note:</a:t>
            </a:r>
            <a:r>
              <a:rPr lang="en-US" dirty="0"/>
              <a:t> WAF does not work with HTTP instance).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 need to create an ACL and associate it with our RESTful AWS API Gateway instance.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rules &amp; rule groups to the ACL.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These can be default AWS rules &amp; rule groups (managed by AWS).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Custom ACL rules using the “</a:t>
            </a:r>
            <a:r>
              <a:rPr lang="en-GB" b="1" i="0" dirty="0">
                <a:solidFill>
                  <a:srgbClr val="0F141A"/>
                </a:solidFill>
                <a:effectLst/>
                <a:latin typeface="Aptos" panose="020B0004020202020204" pitchFamily="34" charset="0"/>
              </a:rPr>
              <a:t>Add rules and rule groups</a:t>
            </a:r>
            <a:r>
              <a:rPr lang="en-GB" dirty="0">
                <a:solidFill>
                  <a:srgbClr val="0F141A"/>
                </a:solidFill>
                <a:latin typeface="Amazon Ember"/>
              </a:rPr>
              <a:t>”.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rgbClr val="0F141A"/>
                </a:solidFill>
                <a:latin typeface="Amazon Ember"/>
              </a:rPr>
              <a:t>We need to setup what happens when a rule is matched – either allow or block request.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rgbClr val="0F141A"/>
                </a:solidFill>
                <a:latin typeface="Amazon Ember"/>
              </a:rPr>
              <a:t>We need to set up rule priority and the order in which rules are processed.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rgbClr val="0F141A"/>
                </a:solidFill>
                <a:latin typeface="Amazon Ember"/>
              </a:rPr>
              <a:t>Hit “</a:t>
            </a:r>
            <a:r>
              <a:rPr lang="en-GB" b="1" dirty="0">
                <a:solidFill>
                  <a:srgbClr val="0F141A"/>
                </a:solidFill>
                <a:latin typeface="Amazon Ember"/>
              </a:rPr>
              <a:t>Create web ACL</a:t>
            </a:r>
            <a:r>
              <a:rPr lang="en-GB" dirty="0">
                <a:solidFill>
                  <a:srgbClr val="0F141A"/>
                </a:solidFill>
                <a:latin typeface="Amazon Ember"/>
              </a:rPr>
              <a:t>” to save the ACL list.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991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FD952-AB7D-222A-60CF-704FE3793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3FA20-4B4E-54A6-D68A-91324F7E6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WAF sit in the existing landscape?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7CAB5-723D-20C0-D5A9-9EC920192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Highlighted – subject of today’s workshop.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409432-C9B9-74FC-D9E1-BEE43262F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315" y="2607276"/>
            <a:ext cx="8808023" cy="2718485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7E207C43-3EFC-EA35-76FF-DCD102C48AE9}"/>
              </a:ext>
            </a:extLst>
          </p:cNvPr>
          <p:cNvSpPr/>
          <p:nvPr/>
        </p:nvSpPr>
        <p:spPr>
          <a:xfrm>
            <a:off x="1302027" y="3431647"/>
            <a:ext cx="6379028" cy="18941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324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E2E14-C095-BE35-BBA8-E1CA7A73D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WAF sit in the existing landscape?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CFC59-25A6-7B38-ED9E-2880A7050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High-level workflow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927FD9-34C9-9468-1D06-97BF29031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315" y="2607276"/>
            <a:ext cx="8808023" cy="271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909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8A1A0-6867-A0CB-0412-B6F897722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CCD12-A3BA-2700-A10A-184812B7D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the workflow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FECCD-2432-F53F-2B67-164A24CB5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Note:</a:t>
            </a:r>
            <a:r>
              <a:rPr lang="en-US" b="1" dirty="0"/>
              <a:t> </a:t>
            </a:r>
            <a:r>
              <a:rPr lang="en-US" dirty="0"/>
              <a:t>Numbers on the</a:t>
            </a:r>
          </a:p>
          <a:p>
            <a:pPr marL="0" indent="0">
              <a:buNone/>
            </a:pPr>
            <a:r>
              <a:rPr lang="en-US" dirty="0"/>
              <a:t>actions match previous </a:t>
            </a:r>
          </a:p>
          <a:p>
            <a:pPr marL="0" indent="0">
              <a:buNone/>
            </a:pPr>
            <a:r>
              <a:rPr lang="en-US" dirty="0"/>
              <a:t>diagram.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41F4C5-0696-6A9C-C081-2E853E1A3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853" y="1284113"/>
            <a:ext cx="5503282" cy="530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409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34DD9-2E42-F66A-3710-6438F9A5B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B247484-0064-9EAF-B724-0512CF7CC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Demonstration time.</a:t>
            </a:r>
            <a:br>
              <a:rPr lang="en-US" dirty="0"/>
            </a:br>
            <a:r>
              <a:rPr lang="en-US" sz="2400" dirty="0"/>
              <a:t>Using O’Reilly Sandbox.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077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D01C4-02D7-574C-DA1A-B4B08F510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5FAFB-9865-0070-2653-AA43884D8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we find the documentation for this</a:t>
            </a:r>
            <a:br>
              <a:rPr lang="en-US" dirty="0"/>
            </a:br>
            <a:r>
              <a:rPr lang="en-US" dirty="0"/>
              <a:t>service?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512B8-246D-CF96-73E9-A32F82C03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Amazon Developer </a:t>
            </a:r>
            <a:r>
              <a:rPr lang="en-US" dirty="0"/>
              <a:t>Documentation:</a:t>
            </a:r>
          </a:p>
          <a:p>
            <a:pPr lvl="1"/>
            <a:r>
              <a:rPr lang="en-US" dirty="0">
                <a:hlinkClick r:id="rId2"/>
              </a:rPr>
              <a:t>https://docs.aws.amazon.com/waf/latest/developerguide/waf-chapter.html</a:t>
            </a:r>
            <a:endParaRPr lang="en-US" dirty="0"/>
          </a:p>
          <a:p>
            <a:r>
              <a:rPr lang="en-US" b="1" dirty="0"/>
              <a:t>Terraform</a:t>
            </a:r>
            <a:r>
              <a:rPr lang="en-US" dirty="0"/>
              <a:t> documentation with regarding WAF:</a:t>
            </a:r>
          </a:p>
          <a:p>
            <a:pPr lvl="1"/>
            <a:r>
              <a:rPr lang="en-US" dirty="0"/>
              <a:t>Creating Web ACLs: </a:t>
            </a:r>
            <a:r>
              <a:rPr lang="en-US" dirty="0">
                <a:hlinkClick r:id="rId3"/>
              </a:rPr>
              <a:t>https://registry.terraform.io/providers/hashicorp/aws/latest/docs/resources/wafv2_web_acl</a:t>
            </a:r>
            <a:endParaRPr lang="en-US" dirty="0"/>
          </a:p>
          <a:p>
            <a:pPr lvl="1"/>
            <a:r>
              <a:rPr lang="en-US" dirty="0"/>
              <a:t>Creating rule groups: </a:t>
            </a:r>
            <a:r>
              <a:rPr lang="en-US" dirty="0">
                <a:hlinkClick r:id="rId4"/>
              </a:rPr>
              <a:t>https://registry.terraform.io/providers/hashicorp/aws/latest/docs/resources/wafv2_rule_group</a:t>
            </a:r>
            <a:endParaRPr lang="en-US" dirty="0"/>
          </a:p>
          <a:p>
            <a:pPr lvl="1"/>
            <a:r>
              <a:rPr lang="en-US" dirty="0"/>
              <a:t>Associating rule groups with existing resources: </a:t>
            </a:r>
            <a:r>
              <a:rPr lang="en-US" dirty="0">
                <a:hlinkClick r:id="rId5"/>
              </a:rPr>
              <a:t>https://registry.terraform.io/providers/hashicorp/aws/latest/docs/resources/wafv2_web_acl_association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223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4EE85-DFFA-5F05-F8BD-E60005A2C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A5326-CF41-F0AE-CD60-34F5AB97F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– starting next Quarter.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095FE-7B37-E1D5-CD1F-C5D9A5240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would need to take the rules we have in EDGE and convert them to WAF rules.</a:t>
            </a:r>
          </a:p>
          <a:p>
            <a:pPr lvl="1"/>
            <a:r>
              <a:rPr lang="en-US" dirty="0"/>
              <a:t>We can enhance the rules with existing AWS sets (e.g. OWASP Top 10).</a:t>
            </a:r>
          </a:p>
          <a:p>
            <a:pPr lvl="1"/>
            <a:r>
              <a:rPr lang="en-US" dirty="0"/>
              <a:t>We must validate these with Security.</a:t>
            </a:r>
          </a:p>
          <a:p>
            <a:r>
              <a:rPr lang="en-US" dirty="0"/>
              <a:t>This would need to be defined in code, using Terraform for multiple environments.</a:t>
            </a:r>
          </a:p>
          <a:p>
            <a:pPr lvl="1"/>
            <a:r>
              <a:rPr lang="en-US" dirty="0"/>
              <a:t>To begin with we will develop against a localhost, or a sandbox (but more about that next quarter).</a:t>
            </a:r>
          </a:p>
        </p:txBody>
      </p:sp>
    </p:spTree>
    <p:extLst>
      <p:ext uri="{BB962C8B-B14F-4D97-AF65-F5344CB8AC3E}">
        <p14:creationId xmlns:p14="http://schemas.microsoft.com/office/powerpoint/2010/main" val="3973505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26148-0278-E1CF-542E-5A0472904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14EE1F1-FAF0-1FEC-9A00-CA21C07B3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Q/A</a:t>
            </a:r>
            <a:br>
              <a:rPr lang="en-US" dirty="0"/>
            </a:br>
            <a:r>
              <a:rPr lang="en-US" sz="2400" dirty="0"/>
              <a:t>Questions &amp; Answers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944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8B218-31AA-B39F-D458-4FAC0D5EC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E33A2-95C9-9CBD-38F1-BA9392B17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workshops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655BF-9A08-4E4E-3D7A-93045D96E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Highlighted – AWS API Gateway – w/c 24</a:t>
            </a:r>
            <a:r>
              <a:rPr lang="en-US" baseline="30000" dirty="0"/>
              <a:t>th</a:t>
            </a:r>
            <a:r>
              <a:rPr lang="en-US" dirty="0"/>
              <a:t> of February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60C11E-5EC6-B364-F644-D3AFF191E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315" y="2607276"/>
            <a:ext cx="8808023" cy="2718485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71F38039-D3F7-118E-3E6C-220A898FDBBE}"/>
              </a:ext>
            </a:extLst>
          </p:cNvPr>
          <p:cNvSpPr/>
          <p:nvPr/>
        </p:nvSpPr>
        <p:spPr>
          <a:xfrm>
            <a:off x="5562600" y="2100943"/>
            <a:ext cx="2579914" cy="32248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446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6DD53-1ACB-BE35-5BE5-65C92D81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FE7B6-0870-4128-94FA-329BA1ADB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workshops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99B47-578A-E993-7676-6258BB30B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Highlighted – AWS Lambda Functions – w/c 3</a:t>
            </a:r>
            <a:r>
              <a:rPr lang="en-US" baseline="30000" dirty="0"/>
              <a:t>rd</a:t>
            </a:r>
            <a:r>
              <a:rPr lang="en-US" dirty="0"/>
              <a:t>  of March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55FE4C-A05A-DBBF-6732-E491E2CDB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315" y="2607276"/>
            <a:ext cx="8808023" cy="2718485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B8C3F5B7-FB79-BAD8-5248-29001089267E}"/>
              </a:ext>
            </a:extLst>
          </p:cNvPr>
          <p:cNvSpPr/>
          <p:nvPr/>
        </p:nvSpPr>
        <p:spPr>
          <a:xfrm>
            <a:off x="7967160" y="3966518"/>
            <a:ext cx="2579914" cy="10776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325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764</Words>
  <Application>Microsoft Macintosh PowerPoint</Application>
  <PresentationFormat>Widescreen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Amazon Ember</vt:lpstr>
      <vt:lpstr>Aptos</vt:lpstr>
      <vt:lpstr>Aptos Display</vt:lpstr>
      <vt:lpstr>Arial</vt:lpstr>
      <vt:lpstr>Office Theme</vt:lpstr>
      <vt:lpstr>AWS WAF</vt:lpstr>
      <vt:lpstr>What is AWS WAF?</vt:lpstr>
      <vt:lpstr>Why do we need AWS WAF?</vt:lpstr>
      <vt:lpstr>How does AWS WAF work? (1)</vt:lpstr>
      <vt:lpstr>How does AWS WAF work? (2)</vt:lpstr>
      <vt:lpstr>Where does WAF sit in the existing landscape? (1)</vt:lpstr>
      <vt:lpstr>Where does WAF sit in the existing landscape? (2)</vt:lpstr>
      <vt:lpstr>How does the workflow work?</vt:lpstr>
      <vt:lpstr>Demonstration time. Using O’Reilly Sandbox.</vt:lpstr>
      <vt:lpstr>Where do we find the documentation for this service?</vt:lpstr>
      <vt:lpstr>Roadmap – starting next Quarter.</vt:lpstr>
      <vt:lpstr>Q/A Questions &amp; Answers</vt:lpstr>
      <vt:lpstr>Upcoming workshops (1)</vt:lpstr>
      <vt:lpstr>Upcoming workshops (2)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Radu Tutunaru</dc:creator>
  <cp:lastModifiedBy>Radu Tutunaru</cp:lastModifiedBy>
  <cp:revision>3</cp:revision>
  <dcterms:created xsi:type="dcterms:W3CDTF">2025-02-17T22:31:41Z</dcterms:created>
  <dcterms:modified xsi:type="dcterms:W3CDTF">2025-02-18T00:55:53Z</dcterms:modified>
</cp:coreProperties>
</file>