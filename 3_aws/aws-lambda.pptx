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8" r:id="rId3"/>
    <p:sldId id="278" r:id="rId4"/>
    <p:sldId id="279" r:id="rId5"/>
    <p:sldId id="259" r:id="rId6"/>
    <p:sldId id="262" r:id="rId7"/>
    <p:sldId id="263" r:id="rId8"/>
    <p:sldId id="273" r:id="rId9"/>
    <p:sldId id="280" r:id="rId10"/>
    <p:sldId id="281" r:id="rId11"/>
    <p:sldId id="282" r:id="rId12"/>
    <p:sldId id="276" r:id="rId13"/>
    <p:sldId id="268" r:id="rId14"/>
    <p:sldId id="267" r:id="rId15"/>
    <p:sldId id="271"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789"/>
    <p:restoredTop sz="94823"/>
  </p:normalViewPr>
  <p:slideViewPr>
    <p:cSldViewPr snapToGrid="0">
      <p:cViewPr>
        <p:scale>
          <a:sx n="140" d="100"/>
          <a:sy n="140" d="100"/>
        </p:scale>
        <p:origin x="-192" y="-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FC7D183-D2F3-9043-8B11-105E2F6389C3}" type="datetimeFigureOut">
              <a:rPr lang="en-US" smtClean="0"/>
              <a:t>3/11/25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3237CFC-A6C7-0944-8400-1793D314B9DF}" type="slidenum">
              <a:rPr lang="en-US" smtClean="0"/>
              <a:t>‹#›</a:t>
            </a:fld>
            <a:endParaRPr lang="en-US"/>
          </a:p>
        </p:txBody>
      </p:sp>
    </p:spTree>
    <p:extLst>
      <p:ext uri="{BB962C8B-B14F-4D97-AF65-F5344CB8AC3E}">
        <p14:creationId xmlns:p14="http://schemas.microsoft.com/office/powerpoint/2010/main" val="6975392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10CCD4-8E4E-6116-65A1-18C88A4D5137}"/>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30431287-1CD8-A310-5CE4-0ABD74B34E6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D4928B75-9EBE-1693-B7DC-12A5384227D2}"/>
              </a:ext>
            </a:extLst>
          </p:cNvPr>
          <p:cNvSpPr>
            <a:spLocks noGrp="1"/>
          </p:cNvSpPr>
          <p:nvPr>
            <p:ph type="dt" sz="half" idx="10"/>
          </p:nvPr>
        </p:nvSpPr>
        <p:spPr/>
        <p:txBody>
          <a:bodyPr/>
          <a:lstStyle/>
          <a:p>
            <a:fld id="{5A54DEBE-1438-0A4F-83D7-EC74AA0F8AFF}" type="datetimeFigureOut">
              <a:rPr lang="en-US" smtClean="0"/>
              <a:t>3/11/25</a:t>
            </a:fld>
            <a:endParaRPr lang="en-US"/>
          </a:p>
        </p:txBody>
      </p:sp>
      <p:sp>
        <p:nvSpPr>
          <p:cNvPr id="5" name="Footer Placeholder 4">
            <a:extLst>
              <a:ext uri="{FF2B5EF4-FFF2-40B4-BE49-F238E27FC236}">
                <a16:creationId xmlns:a16="http://schemas.microsoft.com/office/drawing/2014/main" id="{2A35FA74-787A-5DEA-5773-DE0E9BF355B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BBD03A2-B416-0976-D2E8-14227B43669B}"/>
              </a:ext>
            </a:extLst>
          </p:cNvPr>
          <p:cNvSpPr>
            <a:spLocks noGrp="1"/>
          </p:cNvSpPr>
          <p:nvPr>
            <p:ph type="sldNum" sz="quarter" idx="12"/>
          </p:nvPr>
        </p:nvSpPr>
        <p:spPr/>
        <p:txBody>
          <a:bodyPr/>
          <a:lstStyle/>
          <a:p>
            <a:fld id="{B9D6683C-E827-8A4F-A74C-90763AC2280E}" type="slidenum">
              <a:rPr lang="en-US" smtClean="0"/>
              <a:t>‹#›</a:t>
            </a:fld>
            <a:endParaRPr lang="en-US"/>
          </a:p>
        </p:txBody>
      </p:sp>
    </p:spTree>
    <p:extLst>
      <p:ext uri="{BB962C8B-B14F-4D97-AF65-F5344CB8AC3E}">
        <p14:creationId xmlns:p14="http://schemas.microsoft.com/office/powerpoint/2010/main" val="15001462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5460DF-9DA6-C65C-70FB-EDFF30F3843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162A7AA2-510A-0640-3D84-CD6A1E6667B4}"/>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2D6A6CBC-892D-BB8B-2E9B-6D2228604349}"/>
              </a:ext>
            </a:extLst>
          </p:cNvPr>
          <p:cNvSpPr>
            <a:spLocks noGrp="1"/>
          </p:cNvSpPr>
          <p:nvPr>
            <p:ph type="dt" sz="half" idx="10"/>
          </p:nvPr>
        </p:nvSpPr>
        <p:spPr/>
        <p:txBody>
          <a:bodyPr/>
          <a:lstStyle/>
          <a:p>
            <a:fld id="{5A54DEBE-1438-0A4F-83D7-EC74AA0F8AFF}" type="datetimeFigureOut">
              <a:rPr lang="en-US" smtClean="0"/>
              <a:t>3/11/25</a:t>
            </a:fld>
            <a:endParaRPr lang="en-US"/>
          </a:p>
        </p:txBody>
      </p:sp>
      <p:sp>
        <p:nvSpPr>
          <p:cNvPr id="5" name="Footer Placeholder 4">
            <a:extLst>
              <a:ext uri="{FF2B5EF4-FFF2-40B4-BE49-F238E27FC236}">
                <a16:creationId xmlns:a16="http://schemas.microsoft.com/office/drawing/2014/main" id="{93A8816D-F105-A130-D454-5AA1D65E09A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BB88C4-40EA-C047-1BF1-C48EC4865CC3}"/>
              </a:ext>
            </a:extLst>
          </p:cNvPr>
          <p:cNvSpPr>
            <a:spLocks noGrp="1"/>
          </p:cNvSpPr>
          <p:nvPr>
            <p:ph type="sldNum" sz="quarter" idx="12"/>
          </p:nvPr>
        </p:nvSpPr>
        <p:spPr/>
        <p:txBody>
          <a:bodyPr/>
          <a:lstStyle/>
          <a:p>
            <a:fld id="{B9D6683C-E827-8A4F-A74C-90763AC2280E}" type="slidenum">
              <a:rPr lang="en-US" smtClean="0"/>
              <a:t>‹#›</a:t>
            </a:fld>
            <a:endParaRPr lang="en-US"/>
          </a:p>
        </p:txBody>
      </p:sp>
    </p:spTree>
    <p:extLst>
      <p:ext uri="{BB962C8B-B14F-4D97-AF65-F5344CB8AC3E}">
        <p14:creationId xmlns:p14="http://schemas.microsoft.com/office/powerpoint/2010/main" val="38324380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8BDBE0-A783-995A-84DF-5F3B9D7D0292}"/>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0F0E63C1-ADAF-0C59-9A71-86E4B121988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BDB21E36-E5E9-F423-36C6-0798C5DB4EC1}"/>
              </a:ext>
            </a:extLst>
          </p:cNvPr>
          <p:cNvSpPr>
            <a:spLocks noGrp="1"/>
          </p:cNvSpPr>
          <p:nvPr>
            <p:ph type="dt" sz="half" idx="10"/>
          </p:nvPr>
        </p:nvSpPr>
        <p:spPr/>
        <p:txBody>
          <a:bodyPr/>
          <a:lstStyle/>
          <a:p>
            <a:fld id="{5A54DEBE-1438-0A4F-83D7-EC74AA0F8AFF}" type="datetimeFigureOut">
              <a:rPr lang="en-US" smtClean="0"/>
              <a:t>3/11/25</a:t>
            </a:fld>
            <a:endParaRPr lang="en-US"/>
          </a:p>
        </p:txBody>
      </p:sp>
      <p:sp>
        <p:nvSpPr>
          <p:cNvPr id="5" name="Footer Placeholder 4">
            <a:extLst>
              <a:ext uri="{FF2B5EF4-FFF2-40B4-BE49-F238E27FC236}">
                <a16:creationId xmlns:a16="http://schemas.microsoft.com/office/drawing/2014/main" id="{EEA83DA7-1420-4D1B-3D5C-88DBDF62451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DD8DCE9-376C-B270-F4FE-6442C6BF4613}"/>
              </a:ext>
            </a:extLst>
          </p:cNvPr>
          <p:cNvSpPr>
            <a:spLocks noGrp="1"/>
          </p:cNvSpPr>
          <p:nvPr>
            <p:ph type="sldNum" sz="quarter" idx="12"/>
          </p:nvPr>
        </p:nvSpPr>
        <p:spPr/>
        <p:txBody>
          <a:bodyPr/>
          <a:lstStyle/>
          <a:p>
            <a:fld id="{B9D6683C-E827-8A4F-A74C-90763AC2280E}" type="slidenum">
              <a:rPr lang="en-US" smtClean="0"/>
              <a:t>‹#›</a:t>
            </a:fld>
            <a:endParaRPr lang="en-US"/>
          </a:p>
        </p:txBody>
      </p:sp>
    </p:spTree>
    <p:extLst>
      <p:ext uri="{BB962C8B-B14F-4D97-AF65-F5344CB8AC3E}">
        <p14:creationId xmlns:p14="http://schemas.microsoft.com/office/powerpoint/2010/main" val="5570179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40386D-ABDD-365D-77E1-C334E462FC63}"/>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034DA545-F41E-D260-6367-4857DB458882}"/>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07E3C394-231D-F5EC-FC8C-96BE15BBBAA8}"/>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C3347CDC-AE0E-FB0A-797B-F8E770B79588}"/>
              </a:ext>
            </a:extLst>
          </p:cNvPr>
          <p:cNvSpPr>
            <a:spLocks noGrp="1"/>
          </p:cNvSpPr>
          <p:nvPr>
            <p:ph type="dt" sz="half" idx="10"/>
          </p:nvPr>
        </p:nvSpPr>
        <p:spPr/>
        <p:txBody>
          <a:bodyPr/>
          <a:lstStyle/>
          <a:p>
            <a:fld id="{5A54DEBE-1438-0A4F-83D7-EC74AA0F8AFF}" type="datetimeFigureOut">
              <a:rPr lang="en-US" smtClean="0"/>
              <a:t>3/11/25</a:t>
            </a:fld>
            <a:endParaRPr lang="en-US"/>
          </a:p>
        </p:txBody>
      </p:sp>
      <p:sp>
        <p:nvSpPr>
          <p:cNvPr id="6" name="Footer Placeholder 5">
            <a:extLst>
              <a:ext uri="{FF2B5EF4-FFF2-40B4-BE49-F238E27FC236}">
                <a16:creationId xmlns:a16="http://schemas.microsoft.com/office/drawing/2014/main" id="{7A62B103-66C9-6902-E58E-E2757998085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6004DDC-E82D-2073-A0F5-72087F683020}"/>
              </a:ext>
            </a:extLst>
          </p:cNvPr>
          <p:cNvSpPr>
            <a:spLocks noGrp="1"/>
          </p:cNvSpPr>
          <p:nvPr>
            <p:ph type="sldNum" sz="quarter" idx="12"/>
          </p:nvPr>
        </p:nvSpPr>
        <p:spPr/>
        <p:txBody>
          <a:bodyPr/>
          <a:lstStyle/>
          <a:p>
            <a:fld id="{B9D6683C-E827-8A4F-A74C-90763AC2280E}" type="slidenum">
              <a:rPr lang="en-US" smtClean="0"/>
              <a:t>‹#›</a:t>
            </a:fld>
            <a:endParaRPr lang="en-US"/>
          </a:p>
        </p:txBody>
      </p:sp>
    </p:spTree>
    <p:extLst>
      <p:ext uri="{BB962C8B-B14F-4D97-AF65-F5344CB8AC3E}">
        <p14:creationId xmlns:p14="http://schemas.microsoft.com/office/powerpoint/2010/main" val="20810040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DBF7F8-F1D7-4592-4CB6-EDEDC41106DB}"/>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04134057-88DC-BEBA-4AEA-1D5E3518BCF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DC5643FB-8628-CEC6-8B3D-687B8265CF7E}"/>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2AF49FB5-D4F6-B61E-F15E-02D6E44EE19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F45E5465-8922-E5D7-78F1-FE67EB11D1F5}"/>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66E8AD0C-9ECE-09C2-19E7-93B5E8917ACA}"/>
              </a:ext>
            </a:extLst>
          </p:cNvPr>
          <p:cNvSpPr>
            <a:spLocks noGrp="1"/>
          </p:cNvSpPr>
          <p:nvPr>
            <p:ph type="dt" sz="half" idx="10"/>
          </p:nvPr>
        </p:nvSpPr>
        <p:spPr/>
        <p:txBody>
          <a:bodyPr/>
          <a:lstStyle/>
          <a:p>
            <a:fld id="{5A54DEBE-1438-0A4F-83D7-EC74AA0F8AFF}" type="datetimeFigureOut">
              <a:rPr lang="en-US" smtClean="0"/>
              <a:t>3/11/25</a:t>
            </a:fld>
            <a:endParaRPr lang="en-US"/>
          </a:p>
        </p:txBody>
      </p:sp>
      <p:sp>
        <p:nvSpPr>
          <p:cNvPr id="8" name="Footer Placeholder 7">
            <a:extLst>
              <a:ext uri="{FF2B5EF4-FFF2-40B4-BE49-F238E27FC236}">
                <a16:creationId xmlns:a16="http://schemas.microsoft.com/office/drawing/2014/main" id="{1B2616A3-67FC-4415-C597-B8818E357AA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DA59D8C-242A-7B74-FA62-CCCD0AA01539}"/>
              </a:ext>
            </a:extLst>
          </p:cNvPr>
          <p:cNvSpPr>
            <a:spLocks noGrp="1"/>
          </p:cNvSpPr>
          <p:nvPr>
            <p:ph type="sldNum" sz="quarter" idx="12"/>
          </p:nvPr>
        </p:nvSpPr>
        <p:spPr/>
        <p:txBody>
          <a:bodyPr/>
          <a:lstStyle/>
          <a:p>
            <a:fld id="{B9D6683C-E827-8A4F-A74C-90763AC2280E}" type="slidenum">
              <a:rPr lang="en-US" smtClean="0"/>
              <a:t>‹#›</a:t>
            </a:fld>
            <a:endParaRPr lang="en-US"/>
          </a:p>
        </p:txBody>
      </p:sp>
    </p:spTree>
    <p:extLst>
      <p:ext uri="{BB962C8B-B14F-4D97-AF65-F5344CB8AC3E}">
        <p14:creationId xmlns:p14="http://schemas.microsoft.com/office/powerpoint/2010/main" val="5829304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734837-2EDA-48F7-4E31-259F1453A55E}"/>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1E899CB8-7408-ADAF-6F92-0184EBC92757}"/>
              </a:ext>
            </a:extLst>
          </p:cNvPr>
          <p:cNvSpPr>
            <a:spLocks noGrp="1"/>
          </p:cNvSpPr>
          <p:nvPr>
            <p:ph type="dt" sz="half" idx="10"/>
          </p:nvPr>
        </p:nvSpPr>
        <p:spPr/>
        <p:txBody>
          <a:bodyPr/>
          <a:lstStyle/>
          <a:p>
            <a:fld id="{5A54DEBE-1438-0A4F-83D7-EC74AA0F8AFF}" type="datetimeFigureOut">
              <a:rPr lang="en-US" smtClean="0"/>
              <a:t>3/11/25</a:t>
            </a:fld>
            <a:endParaRPr lang="en-US"/>
          </a:p>
        </p:txBody>
      </p:sp>
      <p:sp>
        <p:nvSpPr>
          <p:cNvPr id="4" name="Footer Placeholder 3">
            <a:extLst>
              <a:ext uri="{FF2B5EF4-FFF2-40B4-BE49-F238E27FC236}">
                <a16:creationId xmlns:a16="http://schemas.microsoft.com/office/drawing/2014/main" id="{4A0487D6-6C9B-776C-2F50-B793AD4BECE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5B77A5E-E4AD-2527-89F9-88A5342B5FE4}"/>
              </a:ext>
            </a:extLst>
          </p:cNvPr>
          <p:cNvSpPr>
            <a:spLocks noGrp="1"/>
          </p:cNvSpPr>
          <p:nvPr>
            <p:ph type="sldNum" sz="quarter" idx="12"/>
          </p:nvPr>
        </p:nvSpPr>
        <p:spPr/>
        <p:txBody>
          <a:bodyPr/>
          <a:lstStyle/>
          <a:p>
            <a:fld id="{B9D6683C-E827-8A4F-A74C-90763AC2280E}" type="slidenum">
              <a:rPr lang="en-US" smtClean="0"/>
              <a:t>‹#›</a:t>
            </a:fld>
            <a:endParaRPr lang="en-US"/>
          </a:p>
        </p:txBody>
      </p:sp>
    </p:spTree>
    <p:extLst>
      <p:ext uri="{BB962C8B-B14F-4D97-AF65-F5344CB8AC3E}">
        <p14:creationId xmlns:p14="http://schemas.microsoft.com/office/powerpoint/2010/main" val="12647811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5A30709-970A-DA7E-4F73-FCD5058F7CBF}"/>
              </a:ext>
            </a:extLst>
          </p:cNvPr>
          <p:cNvSpPr>
            <a:spLocks noGrp="1"/>
          </p:cNvSpPr>
          <p:nvPr>
            <p:ph type="dt" sz="half" idx="10"/>
          </p:nvPr>
        </p:nvSpPr>
        <p:spPr/>
        <p:txBody>
          <a:bodyPr/>
          <a:lstStyle/>
          <a:p>
            <a:fld id="{5A54DEBE-1438-0A4F-83D7-EC74AA0F8AFF}" type="datetimeFigureOut">
              <a:rPr lang="en-US" smtClean="0"/>
              <a:t>3/11/25</a:t>
            </a:fld>
            <a:endParaRPr lang="en-US"/>
          </a:p>
        </p:txBody>
      </p:sp>
      <p:sp>
        <p:nvSpPr>
          <p:cNvPr id="3" name="Footer Placeholder 2">
            <a:extLst>
              <a:ext uri="{FF2B5EF4-FFF2-40B4-BE49-F238E27FC236}">
                <a16:creationId xmlns:a16="http://schemas.microsoft.com/office/drawing/2014/main" id="{A149FA8A-5228-CCCD-00E7-4C4141AA164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781CECB-6E8E-7F60-EA12-93ACA90458C9}"/>
              </a:ext>
            </a:extLst>
          </p:cNvPr>
          <p:cNvSpPr>
            <a:spLocks noGrp="1"/>
          </p:cNvSpPr>
          <p:nvPr>
            <p:ph type="sldNum" sz="quarter" idx="12"/>
          </p:nvPr>
        </p:nvSpPr>
        <p:spPr/>
        <p:txBody>
          <a:bodyPr/>
          <a:lstStyle/>
          <a:p>
            <a:fld id="{B9D6683C-E827-8A4F-A74C-90763AC2280E}" type="slidenum">
              <a:rPr lang="en-US" smtClean="0"/>
              <a:t>‹#›</a:t>
            </a:fld>
            <a:endParaRPr lang="en-US"/>
          </a:p>
        </p:txBody>
      </p:sp>
    </p:spTree>
    <p:extLst>
      <p:ext uri="{BB962C8B-B14F-4D97-AF65-F5344CB8AC3E}">
        <p14:creationId xmlns:p14="http://schemas.microsoft.com/office/powerpoint/2010/main" val="29587379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C6AC6-9BE0-4DF6-A8EC-B0810517621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1F74E644-8DA3-66BA-967C-90D2497EE39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AC821341-CBEC-5F2A-3E99-FE348915A31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1F12EE5C-0E7D-DDD4-66AC-1C0AD1798D4E}"/>
              </a:ext>
            </a:extLst>
          </p:cNvPr>
          <p:cNvSpPr>
            <a:spLocks noGrp="1"/>
          </p:cNvSpPr>
          <p:nvPr>
            <p:ph type="dt" sz="half" idx="10"/>
          </p:nvPr>
        </p:nvSpPr>
        <p:spPr/>
        <p:txBody>
          <a:bodyPr/>
          <a:lstStyle/>
          <a:p>
            <a:fld id="{5A54DEBE-1438-0A4F-83D7-EC74AA0F8AFF}" type="datetimeFigureOut">
              <a:rPr lang="en-US" smtClean="0"/>
              <a:t>3/11/25</a:t>
            </a:fld>
            <a:endParaRPr lang="en-US"/>
          </a:p>
        </p:txBody>
      </p:sp>
      <p:sp>
        <p:nvSpPr>
          <p:cNvPr id="6" name="Footer Placeholder 5">
            <a:extLst>
              <a:ext uri="{FF2B5EF4-FFF2-40B4-BE49-F238E27FC236}">
                <a16:creationId xmlns:a16="http://schemas.microsoft.com/office/drawing/2014/main" id="{6C02E538-78EC-AE48-6C84-ACCECDDBE62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A311018-E5DD-B701-1A89-3B9239A5E728}"/>
              </a:ext>
            </a:extLst>
          </p:cNvPr>
          <p:cNvSpPr>
            <a:spLocks noGrp="1"/>
          </p:cNvSpPr>
          <p:nvPr>
            <p:ph type="sldNum" sz="quarter" idx="12"/>
          </p:nvPr>
        </p:nvSpPr>
        <p:spPr/>
        <p:txBody>
          <a:bodyPr/>
          <a:lstStyle/>
          <a:p>
            <a:fld id="{B9D6683C-E827-8A4F-A74C-90763AC2280E}" type="slidenum">
              <a:rPr lang="en-US" smtClean="0"/>
              <a:t>‹#›</a:t>
            </a:fld>
            <a:endParaRPr lang="en-US"/>
          </a:p>
        </p:txBody>
      </p:sp>
    </p:spTree>
    <p:extLst>
      <p:ext uri="{BB962C8B-B14F-4D97-AF65-F5344CB8AC3E}">
        <p14:creationId xmlns:p14="http://schemas.microsoft.com/office/powerpoint/2010/main" val="30082203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2490A0-B8E1-8C55-0C04-F186913FC61C}"/>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11980AB2-BF75-0DFD-EE1A-98BF82DC46B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A120A80-58F8-8AE8-6175-58243E68904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AAACF4F6-F60F-6B3A-B003-0AF17C94065D}"/>
              </a:ext>
            </a:extLst>
          </p:cNvPr>
          <p:cNvSpPr>
            <a:spLocks noGrp="1"/>
          </p:cNvSpPr>
          <p:nvPr>
            <p:ph type="dt" sz="half" idx="10"/>
          </p:nvPr>
        </p:nvSpPr>
        <p:spPr/>
        <p:txBody>
          <a:bodyPr/>
          <a:lstStyle/>
          <a:p>
            <a:fld id="{5A54DEBE-1438-0A4F-83D7-EC74AA0F8AFF}" type="datetimeFigureOut">
              <a:rPr lang="en-US" smtClean="0"/>
              <a:t>3/11/25</a:t>
            </a:fld>
            <a:endParaRPr lang="en-US"/>
          </a:p>
        </p:txBody>
      </p:sp>
      <p:sp>
        <p:nvSpPr>
          <p:cNvPr id="6" name="Footer Placeholder 5">
            <a:extLst>
              <a:ext uri="{FF2B5EF4-FFF2-40B4-BE49-F238E27FC236}">
                <a16:creationId xmlns:a16="http://schemas.microsoft.com/office/drawing/2014/main" id="{223AEA37-A4B1-D3C0-3F81-49D03D7346B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736B772-EDE0-0A73-F969-DF760E1EBB1E}"/>
              </a:ext>
            </a:extLst>
          </p:cNvPr>
          <p:cNvSpPr>
            <a:spLocks noGrp="1"/>
          </p:cNvSpPr>
          <p:nvPr>
            <p:ph type="sldNum" sz="quarter" idx="12"/>
          </p:nvPr>
        </p:nvSpPr>
        <p:spPr/>
        <p:txBody>
          <a:bodyPr/>
          <a:lstStyle/>
          <a:p>
            <a:fld id="{B9D6683C-E827-8A4F-A74C-90763AC2280E}" type="slidenum">
              <a:rPr lang="en-US" smtClean="0"/>
              <a:t>‹#›</a:t>
            </a:fld>
            <a:endParaRPr lang="en-US"/>
          </a:p>
        </p:txBody>
      </p:sp>
    </p:spTree>
    <p:extLst>
      <p:ext uri="{BB962C8B-B14F-4D97-AF65-F5344CB8AC3E}">
        <p14:creationId xmlns:p14="http://schemas.microsoft.com/office/powerpoint/2010/main" val="16217872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F3D993-9D6E-03DE-7F23-325D78B564B2}"/>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D9E1EBD7-74CC-1759-726B-517C2E58A6A4}"/>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0EB59292-DEB6-C3FD-C24B-414A5AAA63A0}"/>
              </a:ext>
            </a:extLst>
          </p:cNvPr>
          <p:cNvSpPr>
            <a:spLocks noGrp="1"/>
          </p:cNvSpPr>
          <p:nvPr>
            <p:ph type="dt" sz="half" idx="10"/>
          </p:nvPr>
        </p:nvSpPr>
        <p:spPr/>
        <p:txBody>
          <a:bodyPr/>
          <a:lstStyle/>
          <a:p>
            <a:fld id="{5A54DEBE-1438-0A4F-83D7-EC74AA0F8AFF}" type="datetimeFigureOut">
              <a:rPr lang="en-US" smtClean="0"/>
              <a:t>3/11/25</a:t>
            </a:fld>
            <a:endParaRPr lang="en-US"/>
          </a:p>
        </p:txBody>
      </p:sp>
      <p:sp>
        <p:nvSpPr>
          <p:cNvPr id="5" name="Footer Placeholder 4">
            <a:extLst>
              <a:ext uri="{FF2B5EF4-FFF2-40B4-BE49-F238E27FC236}">
                <a16:creationId xmlns:a16="http://schemas.microsoft.com/office/drawing/2014/main" id="{4050E1B4-A8D2-A34A-7925-63D294AF505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A913AE-E42E-1452-86F0-C85069A7FBD0}"/>
              </a:ext>
            </a:extLst>
          </p:cNvPr>
          <p:cNvSpPr>
            <a:spLocks noGrp="1"/>
          </p:cNvSpPr>
          <p:nvPr>
            <p:ph type="sldNum" sz="quarter" idx="12"/>
          </p:nvPr>
        </p:nvSpPr>
        <p:spPr/>
        <p:txBody>
          <a:bodyPr/>
          <a:lstStyle/>
          <a:p>
            <a:fld id="{B9D6683C-E827-8A4F-A74C-90763AC2280E}" type="slidenum">
              <a:rPr lang="en-US" smtClean="0"/>
              <a:t>‹#›</a:t>
            </a:fld>
            <a:endParaRPr lang="en-US"/>
          </a:p>
        </p:txBody>
      </p:sp>
    </p:spTree>
    <p:extLst>
      <p:ext uri="{BB962C8B-B14F-4D97-AF65-F5344CB8AC3E}">
        <p14:creationId xmlns:p14="http://schemas.microsoft.com/office/powerpoint/2010/main" val="10640153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EA75BC8-FA6D-5975-852A-9E0C34973D94}"/>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1BE6BB11-8DB3-251E-FD8C-67526639D8E3}"/>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0D00C468-15B3-3A30-CEC6-0D783C02EAF2}"/>
              </a:ext>
            </a:extLst>
          </p:cNvPr>
          <p:cNvSpPr>
            <a:spLocks noGrp="1"/>
          </p:cNvSpPr>
          <p:nvPr>
            <p:ph type="dt" sz="half" idx="10"/>
          </p:nvPr>
        </p:nvSpPr>
        <p:spPr/>
        <p:txBody>
          <a:bodyPr/>
          <a:lstStyle/>
          <a:p>
            <a:fld id="{5A54DEBE-1438-0A4F-83D7-EC74AA0F8AFF}" type="datetimeFigureOut">
              <a:rPr lang="en-US" smtClean="0"/>
              <a:t>3/11/25</a:t>
            </a:fld>
            <a:endParaRPr lang="en-US"/>
          </a:p>
        </p:txBody>
      </p:sp>
      <p:sp>
        <p:nvSpPr>
          <p:cNvPr id="5" name="Footer Placeholder 4">
            <a:extLst>
              <a:ext uri="{FF2B5EF4-FFF2-40B4-BE49-F238E27FC236}">
                <a16:creationId xmlns:a16="http://schemas.microsoft.com/office/drawing/2014/main" id="{957D3FB6-D113-82A6-1826-4EB7A2AD094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D4F622E-020D-BCF9-4FB5-FBCE81E3FCBE}"/>
              </a:ext>
            </a:extLst>
          </p:cNvPr>
          <p:cNvSpPr>
            <a:spLocks noGrp="1"/>
          </p:cNvSpPr>
          <p:nvPr>
            <p:ph type="sldNum" sz="quarter" idx="12"/>
          </p:nvPr>
        </p:nvSpPr>
        <p:spPr/>
        <p:txBody>
          <a:bodyPr/>
          <a:lstStyle/>
          <a:p>
            <a:fld id="{B9D6683C-E827-8A4F-A74C-90763AC2280E}" type="slidenum">
              <a:rPr lang="en-US" smtClean="0"/>
              <a:t>‹#›</a:t>
            </a:fld>
            <a:endParaRPr lang="en-US"/>
          </a:p>
        </p:txBody>
      </p:sp>
    </p:spTree>
    <p:extLst>
      <p:ext uri="{BB962C8B-B14F-4D97-AF65-F5344CB8AC3E}">
        <p14:creationId xmlns:p14="http://schemas.microsoft.com/office/powerpoint/2010/main" val="36683178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764D898-C050-1DB6-CEFE-E2C8BE64BD0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25F4C37-CCF4-2A1C-A123-2BBBF32FAC1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033A98D-B166-13B1-FD50-95D81B9C5E3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A54DEBE-1438-0A4F-83D7-EC74AA0F8AFF}" type="datetimeFigureOut">
              <a:rPr lang="en-US" smtClean="0"/>
              <a:t>3/11/25</a:t>
            </a:fld>
            <a:endParaRPr lang="en-US"/>
          </a:p>
        </p:txBody>
      </p:sp>
      <p:sp>
        <p:nvSpPr>
          <p:cNvPr id="5" name="Footer Placeholder 4">
            <a:extLst>
              <a:ext uri="{FF2B5EF4-FFF2-40B4-BE49-F238E27FC236}">
                <a16:creationId xmlns:a16="http://schemas.microsoft.com/office/drawing/2014/main" id="{E3518DB4-30EC-69EE-9E45-4D607651A37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AD16C4D-D621-7E6B-F881-33A12077CBF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9D6683C-E827-8A4F-A74C-90763AC2280E}" type="slidenum">
              <a:rPr lang="en-US" smtClean="0"/>
              <a:t>‹#›</a:t>
            </a:fld>
            <a:endParaRPr lang="en-US"/>
          </a:p>
        </p:txBody>
      </p:sp>
      <p:sp>
        <p:nvSpPr>
          <p:cNvPr id="8" name="TextBox 7">
            <a:extLst>
              <a:ext uri="{FF2B5EF4-FFF2-40B4-BE49-F238E27FC236}">
                <a16:creationId xmlns:a16="http://schemas.microsoft.com/office/drawing/2014/main" id="{B628C8F5-DD3C-2026-5C11-D09CAF3A7468}"/>
              </a:ext>
            </a:extLst>
          </p:cNvPr>
          <p:cNvSpPr txBox="1"/>
          <p:nvPr userDrawn="1">
            <p:extLst>
              <p:ext uri="{1162E1C5-73C7-4A58-AE30-91384D911F3F}">
                <p184:classification xmlns:p184="http://schemas.microsoft.com/office/powerpoint/2018/4/main" val="ftr"/>
              </p:ext>
            </p:extLst>
          </p:nvPr>
        </p:nvSpPr>
        <p:spPr>
          <a:xfrm>
            <a:off x="63500" y="6642100"/>
            <a:ext cx="1379538" cy="152400"/>
          </a:xfrm>
          <a:prstGeom prst="rect">
            <a:avLst/>
          </a:prstGeom>
        </p:spPr>
        <p:txBody>
          <a:bodyPr horzOverflow="overflow" lIns="0" tIns="0" rIns="0" bIns="0">
            <a:spAutoFit/>
          </a:bodyPr>
          <a:lstStyle/>
          <a:p>
            <a:pPr algn="l"/>
            <a:r>
              <a:rPr lang="en-US" sz="1000">
                <a:solidFill>
                  <a:srgbClr val="000000">
                    <a:alpha val="50000"/>
                  </a:srgbClr>
                </a:solidFill>
                <a:latin typeface="Calibri" panose="020F0502020204030204" pitchFamily="34" charset="0"/>
                <a:cs typeface="Calibri" panose="020F0502020204030204" pitchFamily="34" charset="0"/>
              </a:rPr>
              <a:t>Data Classification: Amber</a:t>
            </a:r>
          </a:p>
        </p:txBody>
      </p:sp>
    </p:spTree>
    <p:extLst>
      <p:ext uri="{BB962C8B-B14F-4D97-AF65-F5344CB8AC3E}">
        <p14:creationId xmlns:p14="http://schemas.microsoft.com/office/powerpoint/2010/main" val="30029810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registry.terraform.io/providers/hashicorp/aws/latest/docs/resources/lambda_function" TargetMode="External"/><Relationship Id="rId2" Type="http://schemas.openxmlformats.org/officeDocument/2006/relationships/hyperlink" Target="https://docs.aws.amazon.com/lambda/latest/dg/welcome.html" TargetMode="External"/><Relationship Id="rId1" Type="http://schemas.openxmlformats.org/officeDocument/2006/relationships/slideLayout" Target="../slideLayouts/slideLayout2.xml"/><Relationship Id="rId4" Type="http://schemas.openxmlformats.org/officeDocument/2006/relationships/hyperlink" Target="https://learning.oreilly.com/library/view/programming-aws-lambda/9781492041047/"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03FC63-FDE4-C490-6291-054CB5D8D90F}"/>
              </a:ext>
            </a:extLst>
          </p:cNvPr>
          <p:cNvSpPr>
            <a:spLocks noGrp="1"/>
          </p:cNvSpPr>
          <p:nvPr>
            <p:ph type="ctrTitle"/>
          </p:nvPr>
        </p:nvSpPr>
        <p:spPr/>
        <p:txBody>
          <a:bodyPr/>
          <a:lstStyle/>
          <a:p>
            <a:r>
              <a:rPr lang="en-US" b="1" dirty="0"/>
              <a:t>AWS Lambda</a:t>
            </a:r>
          </a:p>
        </p:txBody>
      </p:sp>
      <p:sp>
        <p:nvSpPr>
          <p:cNvPr id="3" name="Subtitle 2">
            <a:extLst>
              <a:ext uri="{FF2B5EF4-FFF2-40B4-BE49-F238E27FC236}">
                <a16:creationId xmlns:a16="http://schemas.microsoft.com/office/drawing/2014/main" id="{AC9D837E-2CF4-FEAA-B348-0A25C1B1671B}"/>
              </a:ext>
            </a:extLst>
          </p:cNvPr>
          <p:cNvSpPr>
            <a:spLocks noGrp="1"/>
          </p:cNvSpPr>
          <p:nvPr>
            <p:ph type="subTitle" idx="1"/>
          </p:nvPr>
        </p:nvSpPr>
        <p:spPr/>
        <p:txBody>
          <a:bodyPr/>
          <a:lstStyle/>
          <a:p>
            <a:r>
              <a:rPr lang="en-US" dirty="0"/>
              <a:t>API &amp; Services - Engineering Workshop 3</a:t>
            </a:r>
          </a:p>
          <a:p>
            <a:r>
              <a:rPr lang="en-US" dirty="0"/>
              <a:t>Tuesday, 11</a:t>
            </a:r>
            <a:r>
              <a:rPr lang="en-US" baseline="30000" dirty="0"/>
              <a:t>th</a:t>
            </a:r>
            <a:r>
              <a:rPr lang="en-US" dirty="0"/>
              <a:t> of March 2025</a:t>
            </a:r>
          </a:p>
        </p:txBody>
      </p:sp>
    </p:spTree>
    <p:extLst>
      <p:ext uri="{BB962C8B-B14F-4D97-AF65-F5344CB8AC3E}">
        <p14:creationId xmlns:p14="http://schemas.microsoft.com/office/powerpoint/2010/main" val="5432381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98AB84-4FDA-EF7E-4955-9A806BBA5DB4}"/>
              </a:ext>
            </a:extLst>
          </p:cNvPr>
          <p:cNvSpPr>
            <a:spLocks noGrp="1"/>
          </p:cNvSpPr>
          <p:nvPr>
            <p:ph type="title"/>
          </p:nvPr>
        </p:nvSpPr>
        <p:spPr/>
        <p:txBody>
          <a:bodyPr/>
          <a:lstStyle/>
          <a:p>
            <a:r>
              <a:rPr lang="en-US" dirty="0"/>
              <a:t>What is AWS Lambda?</a:t>
            </a:r>
          </a:p>
        </p:txBody>
      </p:sp>
      <p:sp>
        <p:nvSpPr>
          <p:cNvPr id="3" name="Content Placeholder 2">
            <a:extLst>
              <a:ext uri="{FF2B5EF4-FFF2-40B4-BE49-F238E27FC236}">
                <a16:creationId xmlns:a16="http://schemas.microsoft.com/office/drawing/2014/main" id="{7F076D0D-79C7-703B-2E2A-47F31B8D8F18}"/>
              </a:ext>
            </a:extLst>
          </p:cNvPr>
          <p:cNvSpPr>
            <a:spLocks noGrp="1"/>
          </p:cNvSpPr>
          <p:nvPr>
            <p:ph idx="1"/>
          </p:nvPr>
        </p:nvSpPr>
        <p:spPr/>
        <p:txBody>
          <a:bodyPr>
            <a:normAutofit fontScale="92500"/>
          </a:bodyPr>
          <a:lstStyle/>
          <a:p>
            <a:r>
              <a:rPr lang="en-GB" b="0" i="0" dirty="0">
                <a:solidFill>
                  <a:srgbClr val="0F141A"/>
                </a:solidFill>
                <a:effectLst/>
                <a:latin typeface="Amazon Ember"/>
              </a:rPr>
              <a:t>Amazon AWS Lambda is an AWS service for running code without provisioning or managing servers.</a:t>
            </a:r>
          </a:p>
          <a:p>
            <a:r>
              <a:rPr lang="en-GB" dirty="0">
                <a:solidFill>
                  <a:srgbClr val="0F141A"/>
                </a:solidFill>
                <a:latin typeface="Amazon Ember"/>
              </a:rPr>
              <a:t>Out of the box we get:</a:t>
            </a:r>
          </a:p>
          <a:p>
            <a:pPr lvl="1"/>
            <a:r>
              <a:rPr lang="en-GB" b="0" i="0" dirty="0">
                <a:solidFill>
                  <a:srgbClr val="0F141A"/>
                </a:solidFill>
                <a:effectLst/>
                <a:latin typeface="Amazon Ember"/>
              </a:rPr>
              <a:t>A high-availability compute infrastructure (no need to handle AZ’s);</a:t>
            </a:r>
          </a:p>
          <a:p>
            <a:pPr lvl="1"/>
            <a:r>
              <a:rPr lang="en-GB" dirty="0">
                <a:solidFill>
                  <a:srgbClr val="0F141A"/>
                </a:solidFill>
                <a:latin typeface="Amazon Ember"/>
              </a:rPr>
              <a:t>Updates, patches &amp; maintenance to OS / runtime / language done automatically by AWS;</a:t>
            </a:r>
          </a:p>
          <a:p>
            <a:pPr lvl="1"/>
            <a:r>
              <a:rPr lang="en-GB" dirty="0">
                <a:solidFill>
                  <a:srgbClr val="0F141A"/>
                </a:solidFill>
                <a:latin typeface="Amazon Ember"/>
              </a:rPr>
              <a:t>Capacity provisioning;</a:t>
            </a:r>
          </a:p>
          <a:p>
            <a:pPr lvl="1"/>
            <a:r>
              <a:rPr lang="en-GB" dirty="0">
                <a:solidFill>
                  <a:srgbClr val="0F141A"/>
                </a:solidFill>
                <a:latin typeface="Amazon Ember"/>
              </a:rPr>
              <a:t>Automatic scaling;</a:t>
            </a:r>
          </a:p>
          <a:p>
            <a:pPr lvl="1"/>
            <a:r>
              <a:rPr lang="en-GB" dirty="0">
                <a:solidFill>
                  <a:srgbClr val="0F141A"/>
                </a:solidFill>
                <a:latin typeface="Amazon Ember"/>
              </a:rPr>
              <a:t>Logging (using CloudWatch);</a:t>
            </a:r>
          </a:p>
          <a:p>
            <a:r>
              <a:rPr lang="en-GB" b="1" u="sng" dirty="0">
                <a:solidFill>
                  <a:srgbClr val="0F141A"/>
                </a:solidFill>
                <a:latin typeface="Amazon Ember"/>
              </a:rPr>
              <a:t>Note</a:t>
            </a:r>
            <a:r>
              <a:rPr lang="en-GB" b="1" dirty="0">
                <a:solidFill>
                  <a:srgbClr val="0F141A"/>
                </a:solidFill>
                <a:latin typeface="Amazon Ember"/>
              </a:rPr>
              <a:t>: </a:t>
            </a:r>
            <a:r>
              <a:rPr lang="en-GB" dirty="0">
                <a:solidFill>
                  <a:srgbClr val="0F141A"/>
                </a:solidFill>
                <a:latin typeface="Amazon Ember"/>
              </a:rPr>
              <a:t>Most of the out of the box features are configurable using Terraform. High availability, updates and patches are done passively by AWS.</a:t>
            </a:r>
          </a:p>
          <a:p>
            <a:pPr lvl="2"/>
            <a:endParaRPr lang="en-GB" dirty="0">
              <a:solidFill>
                <a:srgbClr val="0F141A"/>
              </a:solidFill>
              <a:latin typeface="Amazon Ember"/>
            </a:endParaRPr>
          </a:p>
          <a:p>
            <a:pPr lvl="2"/>
            <a:endParaRPr lang="en-GB" b="0" i="0" dirty="0">
              <a:solidFill>
                <a:srgbClr val="0F141A"/>
              </a:solidFill>
              <a:effectLst/>
              <a:latin typeface="Amazon Ember"/>
            </a:endParaRPr>
          </a:p>
          <a:p>
            <a:pPr lvl="2"/>
            <a:endParaRPr lang="en-GB" dirty="0">
              <a:solidFill>
                <a:srgbClr val="0F141A"/>
              </a:solidFill>
              <a:latin typeface="Amazon Ember"/>
            </a:endParaRPr>
          </a:p>
          <a:p>
            <a:pPr lvl="2"/>
            <a:endParaRPr lang="en-GB" dirty="0">
              <a:solidFill>
                <a:srgbClr val="0F141A"/>
              </a:solidFill>
              <a:latin typeface="Amazon Ember"/>
            </a:endParaRPr>
          </a:p>
          <a:p>
            <a:pPr lvl="2"/>
            <a:endParaRPr lang="en-GB" dirty="0">
              <a:solidFill>
                <a:srgbClr val="0F141A"/>
              </a:solidFill>
              <a:latin typeface="Amazon Ember"/>
            </a:endParaRPr>
          </a:p>
          <a:p>
            <a:pPr lvl="2"/>
            <a:endParaRPr lang="en-GB" dirty="0">
              <a:solidFill>
                <a:srgbClr val="0F141A"/>
              </a:solidFill>
              <a:latin typeface="Amazon Ember"/>
            </a:endParaRPr>
          </a:p>
        </p:txBody>
      </p:sp>
    </p:spTree>
    <p:extLst>
      <p:ext uri="{BB962C8B-B14F-4D97-AF65-F5344CB8AC3E}">
        <p14:creationId xmlns:p14="http://schemas.microsoft.com/office/powerpoint/2010/main" val="41879990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6FAE0C-32E0-6C83-1A07-287B7432ED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87A55D-FD2E-7F90-506A-9D9F78EDA8D9}"/>
              </a:ext>
            </a:extLst>
          </p:cNvPr>
          <p:cNvSpPr>
            <a:spLocks noGrp="1"/>
          </p:cNvSpPr>
          <p:nvPr>
            <p:ph type="title"/>
          </p:nvPr>
        </p:nvSpPr>
        <p:spPr/>
        <p:txBody>
          <a:bodyPr/>
          <a:lstStyle/>
          <a:p>
            <a:r>
              <a:rPr lang="en-US" dirty="0"/>
              <a:t>What are the service limitations? </a:t>
            </a:r>
          </a:p>
        </p:txBody>
      </p:sp>
      <p:sp>
        <p:nvSpPr>
          <p:cNvPr id="3" name="Content Placeholder 2">
            <a:extLst>
              <a:ext uri="{FF2B5EF4-FFF2-40B4-BE49-F238E27FC236}">
                <a16:creationId xmlns:a16="http://schemas.microsoft.com/office/drawing/2014/main" id="{2774AAB0-87C3-4F9A-1ED5-3A165D39B8AB}"/>
              </a:ext>
            </a:extLst>
          </p:cNvPr>
          <p:cNvSpPr>
            <a:spLocks noGrp="1"/>
          </p:cNvSpPr>
          <p:nvPr>
            <p:ph idx="1"/>
          </p:nvPr>
        </p:nvSpPr>
        <p:spPr/>
        <p:txBody>
          <a:bodyPr>
            <a:normAutofit/>
          </a:bodyPr>
          <a:lstStyle/>
          <a:p>
            <a:r>
              <a:rPr lang="en-GB" dirty="0">
                <a:solidFill>
                  <a:srgbClr val="0F141A"/>
                </a:solidFill>
                <a:latin typeface="Amazon Ember"/>
              </a:rPr>
              <a:t>Soft-limitations:</a:t>
            </a:r>
          </a:p>
          <a:p>
            <a:pPr lvl="1"/>
            <a:r>
              <a:rPr lang="en-GB" dirty="0">
                <a:solidFill>
                  <a:srgbClr val="0F141A"/>
                </a:solidFill>
                <a:latin typeface="Amazon Ember"/>
              </a:rPr>
              <a:t>Lambda concurrency limit 1000 per account (can be increased by AWS with a good use case);</a:t>
            </a:r>
          </a:p>
          <a:p>
            <a:pPr lvl="2"/>
            <a:r>
              <a:rPr lang="en-GB" dirty="0">
                <a:solidFill>
                  <a:srgbClr val="0F141A"/>
                </a:solidFill>
                <a:latin typeface="Amazon Ember"/>
              </a:rPr>
              <a:t>Increasing this might require us speaking with AWS / Zensar.</a:t>
            </a:r>
          </a:p>
          <a:p>
            <a:r>
              <a:rPr lang="en-GB" dirty="0">
                <a:solidFill>
                  <a:srgbClr val="0F141A"/>
                </a:solidFill>
                <a:latin typeface="Amazon Ember"/>
              </a:rPr>
              <a:t>Hard-limitations:</a:t>
            </a:r>
          </a:p>
          <a:p>
            <a:pPr lvl="1"/>
            <a:r>
              <a:rPr lang="en-GB" dirty="0">
                <a:solidFill>
                  <a:srgbClr val="0F141A"/>
                </a:solidFill>
                <a:latin typeface="Amazon Ember"/>
              </a:rPr>
              <a:t>Payload maximum 6MB. AWS API Gateway has a maximum payload of 10MB. When lambdas &amp; API Gateway are linked together, this limits API Gateway to 6MB.</a:t>
            </a:r>
          </a:p>
          <a:p>
            <a:pPr lvl="2"/>
            <a:r>
              <a:rPr lang="en-GB" dirty="0">
                <a:solidFill>
                  <a:srgbClr val="0F141A"/>
                </a:solidFill>
                <a:latin typeface="Amazon Ember"/>
              </a:rPr>
              <a:t>Note WAF limits this even further to ~64KB per message.</a:t>
            </a:r>
          </a:p>
          <a:p>
            <a:pPr lvl="1"/>
            <a:r>
              <a:rPr lang="en-GB" dirty="0">
                <a:solidFill>
                  <a:srgbClr val="0F141A"/>
                </a:solidFill>
                <a:latin typeface="Amazon Ember"/>
              </a:rPr>
              <a:t>Lambda functions can service a maximum of 10 </a:t>
            </a:r>
            <a:r>
              <a:rPr lang="en-GB" dirty="0" err="1">
                <a:solidFill>
                  <a:srgbClr val="0F141A"/>
                </a:solidFill>
                <a:latin typeface="Amazon Ember"/>
              </a:rPr>
              <a:t>req</a:t>
            </a:r>
            <a:r>
              <a:rPr lang="en-GB" dirty="0">
                <a:solidFill>
                  <a:srgbClr val="0F141A"/>
                </a:solidFill>
                <a:latin typeface="Amazon Ember"/>
              </a:rPr>
              <a:t> / second / lambda.</a:t>
            </a:r>
            <a:endParaRPr lang="en-GB" b="0" i="0" dirty="0">
              <a:solidFill>
                <a:srgbClr val="0F141A"/>
              </a:solidFill>
              <a:effectLst/>
              <a:latin typeface="Amazon Ember"/>
            </a:endParaRPr>
          </a:p>
          <a:p>
            <a:pPr lvl="2"/>
            <a:endParaRPr lang="en-GB" dirty="0">
              <a:solidFill>
                <a:srgbClr val="0F141A"/>
              </a:solidFill>
              <a:latin typeface="Amazon Ember"/>
            </a:endParaRPr>
          </a:p>
          <a:p>
            <a:pPr lvl="2"/>
            <a:endParaRPr lang="en-GB" dirty="0">
              <a:solidFill>
                <a:srgbClr val="0F141A"/>
              </a:solidFill>
              <a:latin typeface="Amazon Ember"/>
            </a:endParaRPr>
          </a:p>
          <a:p>
            <a:pPr lvl="2"/>
            <a:endParaRPr lang="en-GB" dirty="0">
              <a:solidFill>
                <a:srgbClr val="0F141A"/>
              </a:solidFill>
              <a:latin typeface="Amazon Ember"/>
            </a:endParaRPr>
          </a:p>
          <a:p>
            <a:pPr lvl="2"/>
            <a:endParaRPr lang="en-GB" dirty="0">
              <a:solidFill>
                <a:srgbClr val="0F141A"/>
              </a:solidFill>
              <a:latin typeface="Amazon Ember"/>
            </a:endParaRPr>
          </a:p>
        </p:txBody>
      </p:sp>
    </p:spTree>
    <p:extLst>
      <p:ext uri="{BB962C8B-B14F-4D97-AF65-F5344CB8AC3E}">
        <p14:creationId xmlns:p14="http://schemas.microsoft.com/office/powerpoint/2010/main" val="28320494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B14567-5D9A-60A8-02FE-D882650D8A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3BAA97-8D7E-C033-9260-B37A2E64FE65}"/>
              </a:ext>
            </a:extLst>
          </p:cNvPr>
          <p:cNvSpPr>
            <a:spLocks noGrp="1"/>
          </p:cNvSpPr>
          <p:nvPr>
            <p:ph type="title"/>
          </p:nvPr>
        </p:nvSpPr>
        <p:spPr/>
        <p:txBody>
          <a:bodyPr/>
          <a:lstStyle/>
          <a:p>
            <a:r>
              <a:rPr lang="en-US" dirty="0"/>
              <a:t>What are the service limitations? </a:t>
            </a:r>
          </a:p>
        </p:txBody>
      </p:sp>
      <p:sp>
        <p:nvSpPr>
          <p:cNvPr id="3" name="Content Placeholder 2">
            <a:extLst>
              <a:ext uri="{FF2B5EF4-FFF2-40B4-BE49-F238E27FC236}">
                <a16:creationId xmlns:a16="http://schemas.microsoft.com/office/drawing/2014/main" id="{9B430F4E-E5E8-A495-AB25-68682C4FE47D}"/>
              </a:ext>
            </a:extLst>
          </p:cNvPr>
          <p:cNvSpPr>
            <a:spLocks noGrp="1"/>
          </p:cNvSpPr>
          <p:nvPr>
            <p:ph idx="1"/>
          </p:nvPr>
        </p:nvSpPr>
        <p:spPr/>
        <p:txBody>
          <a:bodyPr>
            <a:normAutofit fontScale="92500" lnSpcReduction="20000"/>
          </a:bodyPr>
          <a:lstStyle/>
          <a:p>
            <a:r>
              <a:rPr lang="en-GB" dirty="0">
                <a:solidFill>
                  <a:srgbClr val="0F141A"/>
                </a:solidFill>
                <a:latin typeface="Amazon Ember"/>
              </a:rPr>
              <a:t>Difference between lambda accessing VPC based resources and non-VPC resources.</a:t>
            </a:r>
          </a:p>
          <a:p>
            <a:pPr lvl="1"/>
            <a:r>
              <a:rPr lang="en-GB" dirty="0">
                <a:solidFill>
                  <a:srgbClr val="0F141A"/>
                </a:solidFill>
                <a:latin typeface="Amazon Ember"/>
              </a:rPr>
              <a:t>In our case, the resources will be within VPCs. This means that the lambdas will lose their regional context and won’t be able to be accessed by the gateway without being linked to an Elastic Network Interface (ENI) first.</a:t>
            </a:r>
          </a:p>
          <a:p>
            <a:r>
              <a:rPr lang="en-GB" dirty="0">
                <a:solidFill>
                  <a:srgbClr val="0F141A"/>
                </a:solidFill>
                <a:latin typeface="Amazon Ember"/>
              </a:rPr>
              <a:t>Cold starts (lag depending on the programming language):</a:t>
            </a:r>
          </a:p>
          <a:p>
            <a:pPr lvl="1"/>
            <a:r>
              <a:rPr lang="en-GB" dirty="0">
                <a:solidFill>
                  <a:srgbClr val="0F141A"/>
                </a:solidFill>
                <a:latin typeface="Amazon Ember"/>
              </a:rPr>
              <a:t>JVM based (Kotlin, Scala, Java) – cold start will exist as lambda will provision itself, start the JVM then run our fat jar (compiled code).</a:t>
            </a:r>
          </a:p>
          <a:p>
            <a:pPr lvl="1"/>
            <a:r>
              <a:rPr lang="en-GB" dirty="0">
                <a:solidFill>
                  <a:srgbClr val="0F141A"/>
                </a:solidFill>
                <a:latin typeface="Amazon Ember"/>
              </a:rPr>
              <a:t>Non-JVM based (Node.js, Python) – lambda will provision itself and the run our </a:t>
            </a:r>
            <a:r>
              <a:rPr lang="en-GB" dirty="0" err="1">
                <a:solidFill>
                  <a:srgbClr val="0F141A"/>
                </a:solidFill>
                <a:latin typeface="Amazon Ember"/>
              </a:rPr>
              <a:t>transpiled</a:t>
            </a:r>
            <a:r>
              <a:rPr lang="en-GB" dirty="0">
                <a:solidFill>
                  <a:srgbClr val="0F141A"/>
                </a:solidFill>
                <a:latin typeface="Amazon Ember"/>
              </a:rPr>
              <a:t> code. </a:t>
            </a:r>
          </a:p>
          <a:p>
            <a:r>
              <a:rPr lang="en-GB" dirty="0">
                <a:solidFill>
                  <a:srgbClr val="0F141A"/>
                </a:solidFill>
                <a:latin typeface="Amazon Ember"/>
              </a:rPr>
              <a:t>Maximum lambda size - 250MB* (includes deps).</a:t>
            </a:r>
          </a:p>
          <a:p>
            <a:pPr lvl="1"/>
            <a:r>
              <a:rPr lang="en-GB" b="0" i="0" dirty="0">
                <a:solidFill>
                  <a:srgbClr val="0F141A"/>
                </a:solidFill>
                <a:effectLst/>
                <a:latin typeface="Amazon Ember"/>
              </a:rPr>
              <a:t>Ca</a:t>
            </a:r>
            <a:r>
              <a:rPr lang="en-GB" dirty="0">
                <a:solidFill>
                  <a:srgbClr val="0F141A"/>
                </a:solidFill>
                <a:latin typeface="Amazon Ember"/>
              </a:rPr>
              <a:t>n be mitigated by </a:t>
            </a:r>
            <a:r>
              <a:rPr lang="en-GB" dirty="0" err="1">
                <a:solidFill>
                  <a:srgbClr val="0F141A"/>
                </a:solidFill>
                <a:latin typeface="Amazon Ember"/>
              </a:rPr>
              <a:t>dockerising</a:t>
            </a:r>
            <a:r>
              <a:rPr lang="en-GB" dirty="0">
                <a:solidFill>
                  <a:srgbClr val="0F141A"/>
                </a:solidFill>
                <a:latin typeface="Amazon Ember"/>
              </a:rPr>
              <a:t> the function and storing it in the ECR (or any CR). Docker images can have up to 10GB.</a:t>
            </a:r>
          </a:p>
          <a:p>
            <a:pPr lvl="1"/>
            <a:r>
              <a:rPr lang="en-GB" b="0" i="0" dirty="0">
                <a:solidFill>
                  <a:srgbClr val="0F141A"/>
                </a:solidFill>
                <a:effectLst/>
                <a:latin typeface="Amazon Ember"/>
              </a:rPr>
              <a:t>Can be mitigated even further by using Lambda Layers (for common dependencies).</a:t>
            </a:r>
          </a:p>
          <a:p>
            <a:pPr lvl="2"/>
            <a:endParaRPr lang="en-GB" dirty="0">
              <a:solidFill>
                <a:srgbClr val="0F141A"/>
              </a:solidFill>
              <a:latin typeface="Amazon Ember"/>
            </a:endParaRPr>
          </a:p>
          <a:p>
            <a:pPr lvl="2"/>
            <a:endParaRPr lang="en-GB" dirty="0">
              <a:solidFill>
                <a:srgbClr val="0F141A"/>
              </a:solidFill>
              <a:latin typeface="Amazon Ember"/>
            </a:endParaRPr>
          </a:p>
          <a:p>
            <a:pPr lvl="2"/>
            <a:endParaRPr lang="en-GB" dirty="0">
              <a:solidFill>
                <a:srgbClr val="0F141A"/>
              </a:solidFill>
              <a:latin typeface="Amazon Ember"/>
            </a:endParaRPr>
          </a:p>
          <a:p>
            <a:pPr lvl="2"/>
            <a:endParaRPr lang="en-GB" dirty="0">
              <a:solidFill>
                <a:srgbClr val="0F141A"/>
              </a:solidFill>
              <a:latin typeface="Amazon Ember"/>
            </a:endParaRPr>
          </a:p>
        </p:txBody>
      </p:sp>
    </p:spTree>
    <p:extLst>
      <p:ext uri="{BB962C8B-B14F-4D97-AF65-F5344CB8AC3E}">
        <p14:creationId xmlns:p14="http://schemas.microsoft.com/office/powerpoint/2010/main" val="36558185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C7D066-E807-5E31-55DF-84564234F791}"/>
              </a:ext>
            </a:extLst>
          </p:cNvPr>
          <p:cNvSpPr>
            <a:spLocks noGrp="1"/>
          </p:cNvSpPr>
          <p:nvPr>
            <p:ph type="title"/>
          </p:nvPr>
        </p:nvSpPr>
        <p:spPr/>
        <p:txBody>
          <a:bodyPr/>
          <a:lstStyle/>
          <a:p>
            <a:r>
              <a:rPr lang="en-US" dirty="0"/>
              <a:t>Why do we need AWS Lambda </a:t>
            </a:r>
            <a:r>
              <a:rPr lang="en-US" dirty="0" err="1"/>
              <a:t>Fn</a:t>
            </a:r>
            <a:r>
              <a:rPr lang="en-US" dirty="0"/>
              <a:t>(s)?</a:t>
            </a:r>
          </a:p>
        </p:txBody>
      </p:sp>
      <p:sp>
        <p:nvSpPr>
          <p:cNvPr id="3" name="Content Placeholder 2">
            <a:extLst>
              <a:ext uri="{FF2B5EF4-FFF2-40B4-BE49-F238E27FC236}">
                <a16:creationId xmlns:a16="http://schemas.microsoft.com/office/drawing/2014/main" id="{3215DEDA-E447-9330-622B-C5DA97B908DE}"/>
              </a:ext>
            </a:extLst>
          </p:cNvPr>
          <p:cNvSpPr>
            <a:spLocks noGrp="1"/>
          </p:cNvSpPr>
          <p:nvPr>
            <p:ph idx="1"/>
          </p:nvPr>
        </p:nvSpPr>
        <p:spPr/>
        <p:txBody>
          <a:bodyPr/>
          <a:lstStyle/>
          <a:p>
            <a:r>
              <a:rPr lang="en-US" dirty="0"/>
              <a:t>Lambda </a:t>
            </a:r>
            <a:r>
              <a:rPr lang="en-US" dirty="0" err="1"/>
              <a:t>Fn</a:t>
            </a:r>
            <a:r>
              <a:rPr lang="en-US" dirty="0"/>
              <a:t>(s) are our enabler for moving away from BW5 / BW6 to the new AWS cloud environment.</a:t>
            </a:r>
          </a:p>
          <a:p>
            <a:pPr lvl="1"/>
            <a:r>
              <a:rPr lang="en-US" dirty="0"/>
              <a:t>Exit the </a:t>
            </a:r>
            <a:r>
              <a:rPr lang="en-US" dirty="0" err="1"/>
              <a:t>rTSAs</a:t>
            </a:r>
            <a:r>
              <a:rPr lang="en-US" dirty="0"/>
              <a:t> within 2 years (leave the BBUK platform);</a:t>
            </a:r>
          </a:p>
          <a:p>
            <a:pPr lvl="1"/>
            <a:r>
              <a:rPr lang="en-US" dirty="0"/>
              <a:t>Right-size the Solution for IMS (functionality and non-functional requirements);</a:t>
            </a:r>
          </a:p>
          <a:p>
            <a:pPr lvl="1"/>
            <a:r>
              <a:rPr lang="en-US" dirty="0"/>
              <a:t>Well-supported technology (get help if we need it);</a:t>
            </a:r>
          </a:p>
          <a:p>
            <a:pPr lvl="1"/>
            <a:r>
              <a:rPr lang="en-US" dirty="0"/>
              <a:t>Consolidate around a set of technical skill sets;</a:t>
            </a:r>
          </a:p>
          <a:p>
            <a:pPr lvl="1"/>
            <a:r>
              <a:rPr lang="en-US" dirty="0"/>
              <a:t>Limit the number of 3</a:t>
            </a:r>
            <a:r>
              <a:rPr lang="en-US" baseline="30000" dirty="0"/>
              <a:t>rd</a:t>
            </a:r>
            <a:r>
              <a:rPr lang="en-US" dirty="0"/>
              <a:t> parties that we must manage;</a:t>
            </a:r>
            <a:br>
              <a:rPr lang="en-US" dirty="0"/>
            </a:br>
            <a:endParaRPr lang="en-US" dirty="0"/>
          </a:p>
        </p:txBody>
      </p:sp>
    </p:spTree>
    <p:extLst>
      <p:ext uri="{BB962C8B-B14F-4D97-AF65-F5344CB8AC3E}">
        <p14:creationId xmlns:p14="http://schemas.microsoft.com/office/powerpoint/2010/main" val="22901986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0E2E14-C095-BE35-BBA8-E1CA7A73D26C}"/>
              </a:ext>
            </a:extLst>
          </p:cNvPr>
          <p:cNvSpPr>
            <a:spLocks noGrp="1"/>
          </p:cNvSpPr>
          <p:nvPr>
            <p:ph type="title"/>
          </p:nvPr>
        </p:nvSpPr>
        <p:spPr/>
        <p:txBody>
          <a:bodyPr/>
          <a:lstStyle/>
          <a:p>
            <a:r>
              <a:rPr lang="en-US" dirty="0"/>
              <a:t>Where does AWS Lambda sit in the existing landscape? (1)</a:t>
            </a:r>
          </a:p>
        </p:txBody>
      </p:sp>
      <p:sp>
        <p:nvSpPr>
          <p:cNvPr id="3" name="Content Placeholder 2">
            <a:extLst>
              <a:ext uri="{FF2B5EF4-FFF2-40B4-BE49-F238E27FC236}">
                <a16:creationId xmlns:a16="http://schemas.microsoft.com/office/drawing/2014/main" id="{DA2CFC59-25A6-7B38-ED9E-2880A705090C}"/>
              </a:ext>
            </a:extLst>
          </p:cNvPr>
          <p:cNvSpPr>
            <a:spLocks noGrp="1"/>
          </p:cNvSpPr>
          <p:nvPr>
            <p:ph idx="1"/>
          </p:nvPr>
        </p:nvSpPr>
        <p:spPr/>
        <p:txBody>
          <a:bodyPr/>
          <a:lstStyle/>
          <a:p>
            <a:pPr marL="0" indent="0">
              <a:buNone/>
            </a:pPr>
            <a:r>
              <a:rPr lang="en-US" dirty="0"/>
              <a:t>High-level workflow</a:t>
            </a:r>
          </a:p>
        </p:txBody>
      </p:sp>
      <p:pic>
        <p:nvPicPr>
          <p:cNvPr id="4" name="Picture 3">
            <a:extLst>
              <a:ext uri="{FF2B5EF4-FFF2-40B4-BE49-F238E27FC236}">
                <a16:creationId xmlns:a16="http://schemas.microsoft.com/office/drawing/2014/main" id="{AA927FD9-34C9-9468-1D06-97BF29031165}"/>
              </a:ext>
            </a:extLst>
          </p:cNvPr>
          <p:cNvPicPr>
            <a:picLocks noChangeAspect="1"/>
          </p:cNvPicPr>
          <p:nvPr/>
        </p:nvPicPr>
        <p:blipFill>
          <a:blip r:embed="rId2"/>
          <a:stretch>
            <a:fillRect/>
          </a:stretch>
        </p:blipFill>
        <p:spPr>
          <a:xfrm>
            <a:off x="1579315" y="2607276"/>
            <a:ext cx="8808023" cy="2718485"/>
          </a:xfrm>
          <a:prstGeom prst="rect">
            <a:avLst/>
          </a:prstGeom>
        </p:spPr>
      </p:pic>
    </p:spTree>
    <p:extLst>
      <p:ext uri="{BB962C8B-B14F-4D97-AF65-F5344CB8AC3E}">
        <p14:creationId xmlns:p14="http://schemas.microsoft.com/office/powerpoint/2010/main" val="28589094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CFD952-AB7D-222A-60CF-704FE3793D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43FA20-4B4E-54A6-D68A-91324F7E6B70}"/>
              </a:ext>
            </a:extLst>
          </p:cNvPr>
          <p:cNvSpPr>
            <a:spLocks noGrp="1"/>
          </p:cNvSpPr>
          <p:nvPr>
            <p:ph type="title"/>
          </p:nvPr>
        </p:nvSpPr>
        <p:spPr/>
        <p:txBody>
          <a:bodyPr/>
          <a:lstStyle/>
          <a:p>
            <a:r>
              <a:rPr lang="en-US" dirty="0"/>
              <a:t>Where does AWS Lambda sit in the existing landscape? (2)</a:t>
            </a:r>
          </a:p>
        </p:txBody>
      </p:sp>
      <p:sp>
        <p:nvSpPr>
          <p:cNvPr id="3" name="Content Placeholder 2">
            <a:extLst>
              <a:ext uri="{FF2B5EF4-FFF2-40B4-BE49-F238E27FC236}">
                <a16:creationId xmlns:a16="http://schemas.microsoft.com/office/drawing/2014/main" id="{4627CAB5-723D-20C0-D5A9-9EC9201922E6}"/>
              </a:ext>
            </a:extLst>
          </p:cNvPr>
          <p:cNvSpPr>
            <a:spLocks noGrp="1"/>
          </p:cNvSpPr>
          <p:nvPr>
            <p:ph idx="1"/>
          </p:nvPr>
        </p:nvSpPr>
        <p:spPr/>
        <p:txBody>
          <a:bodyPr/>
          <a:lstStyle/>
          <a:p>
            <a:pPr marL="0" indent="0">
              <a:buNone/>
            </a:pPr>
            <a:r>
              <a:rPr lang="en-US" dirty="0"/>
              <a:t>Highlighted – subject of today’s workshop.</a:t>
            </a:r>
          </a:p>
        </p:txBody>
      </p:sp>
      <p:pic>
        <p:nvPicPr>
          <p:cNvPr id="4" name="Picture 3">
            <a:extLst>
              <a:ext uri="{FF2B5EF4-FFF2-40B4-BE49-F238E27FC236}">
                <a16:creationId xmlns:a16="http://schemas.microsoft.com/office/drawing/2014/main" id="{65409432-C9B9-74FC-D9E1-BEE43262F464}"/>
              </a:ext>
            </a:extLst>
          </p:cNvPr>
          <p:cNvPicPr>
            <a:picLocks noChangeAspect="1"/>
          </p:cNvPicPr>
          <p:nvPr/>
        </p:nvPicPr>
        <p:blipFill>
          <a:blip r:embed="rId2"/>
          <a:stretch>
            <a:fillRect/>
          </a:stretch>
        </p:blipFill>
        <p:spPr>
          <a:xfrm>
            <a:off x="1579315" y="2607276"/>
            <a:ext cx="8808023" cy="2718485"/>
          </a:xfrm>
          <a:prstGeom prst="rect">
            <a:avLst/>
          </a:prstGeom>
        </p:spPr>
      </p:pic>
      <p:sp>
        <p:nvSpPr>
          <p:cNvPr id="38" name="Oval 37">
            <a:extLst>
              <a:ext uri="{FF2B5EF4-FFF2-40B4-BE49-F238E27FC236}">
                <a16:creationId xmlns:a16="http://schemas.microsoft.com/office/drawing/2014/main" id="{7E207C43-3EFC-EA35-76FF-DCD102C48AE9}"/>
              </a:ext>
            </a:extLst>
          </p:cNvPr>
          <p:cNvSpPr/>
          <p:nvPr/>
        </p:nvSpPr>
        <p:spPr>
          <a:xfrm>
            <a:off x="5983326" y="3642802"/>
            <a:ext cx="4629359" cy="1682959"/>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a:ln w="22225">
                <a:solidFill>
                  <a:schemeClr val="accent2"/>
                </a:solidFill>
                <a:prstDash val="solid"/>
              </a:ln>
              <a:solidFill>
                <a:schemeClr val="accent2">
                  <a:lumMod val="40000"/>
                  <a:lumOff val="60000"/>
                </a:schemeClr>
              </a:solidFill>
            </a:endParaRPr>
          </a:p>
        </p:txBody>
      </p:sp>
    </p:spTree>
    <p:extLst>
      <p:ext uri="{BB962C8B-B14F-4D97-AF65-F5344CB8AC3E}">
        <p14:creationId xmlns:p14="http://schemas.microsoft.com/office/powerpoint/2010/main" val="28233247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CD9BAD-2B36-1349-3E89-F37223560F08}"/>
              </a:ext>
            </a:extLst>
          </p:cNvPr>
          <p:cNvSpPr>
            <a:spLocks noGrp="1"/>
          </p:cNvSpPr>
          <p:nvPr>
            <p:ph type="title"/>
          </p:nvPr>
        </p:nvSpPr>
        <p:spPr/>
        <p:txBody>
          <a:bodyPr/>
          <a:lstStyle/>
          <a:p>
            <a:r>
              <a:rPr lang="en-US" dirty="0"/>
              <a:t>Patterns we need to support (1)</a:t>
            </a:r>
          </a:p>
        </p:txBody>
      </p:sp>
      <p:sp>
        <p:nvSpPr>
          <p:cNvPr id="3" name="Content Placeholder 2">
            <a:extLst>
              <a:ext uri="{FF2B5EF4-FFF2-40B4-BE49-F238E27FC236}">
                <a16:creationId xmlns:a16="http://schemas.microsoft.com/office/drawing/2014/main" id="{A0CEB07F-F47B-EA08-524A-1D47CED5B7E5}"/>
              </a:ext>
            </a:extLst>
          </p:cNvPr>
          <p:cNvSpPr>
            <a:spLocks noGrp="1"/>
          </p:cNvSpPr>
          <p:nvPr>
            <p:ph idx="1"/>
          </p:nvPr>
        </p:nvSpPr>
        <p:spPr/>
        <p:txBody>
          <a:bodyPr>
            <a:normAutofit lnSpcReduction="10000"/>
          </a:bodyPr>
          <a:lstStyle/>
          <a:p>
            <a:r>
              <a:rPr lang="en-US" dirty="0"/>
              <a:t>We are going to be using lambdas in request-response based (aka request driven) mode (synchronous).</a:t>
            </a:r>
          </a:p>
          <a:p>
            <a:pPr lvl="1"/>
            <a:r>
              <a:rPr lang="en-US" b="1" dirty="0"/>
              <a:t>Note: </a:t>
            </a:r>
            <a:r>
              <a:rPr lang="en-US" dirty="0"/>
              <a:t>Lambdas can be used asynchronously by connecting them to event services (</a:t>
            </a:r>
            <a:r>
              <a:rPr lang="en-US" dirty="0" err="1"/>
              <a:t>e.g</a:t>
            </a:r>
            <a:r>
              <a:rPr lang="en-US" dirty="0"/>
              <a:t> Queues, Topics, Event Bridge .</a:t>
            </a:r>
            <a:r>
              <a:rPr lang="en-US" dirty="0" err="1"/>
              <a:t>etc</a:t>
            </a:r>
            <a:r>
              <a:rPr lang="en-US" dirty="0"/>
              <a:t> – see the Insurance Promo Perks conversation from a few months ago).</a:t>
            </a:r>
            <a:endParaRPr lang="en-US" b="1" dirty="0"/>
          </a:p>
          <a:p>
            <a:r>
              <a:rPr lang="en-US" dirty="0"/>
              <a:t>Within request-response there are a few patterns we need to support:</a:t>
            </a:r>
          </a:p>
          <a:p>
            <a:pPr lvl="1"/>
            <a:r>
              <a:rPr lang="en-US" dirty="0"/>
              <a:t>XML (SOAP) in, XML (SOAP) out.</a:t>
            </a:r>
          </a:p>
          <a:p>
            <a:pPr lvl="1"/>
            <a:r>
              <a:rPr lang="en-US" dirty="0"/>
              <a:t>XML (SOAP) in,  JSON out.</a:t>
            </a:r>
          </a:p>
          <a:p>
            <a:pPr lvl="1"/>
            <a:r>
              <a:rPr lang="en-US" dirty="0"/>
              <a:t>JSON in, JSON out (default).</a:t>
            </a:r>
          </a:p>
          <a:p>
            <a:pPr lvl="1"/>
            <a:r>
              <a:rPr lang="en-US" strike="sngStrike" dirty="0"/>
              <a:t>JSON in, SOAP out ?!</a:t>
            </a:r>
          </a:p>
          <a:p>
            <a:endParaRPr lang="en-US" dirty="0"/>
          </a:p>
        </p:txBody>
      </p:sp>
    </p:spTree>
    <p:extLst>
      <p:ext uri="{BB962C8B-B14F-4D97-AF65-F5344CB8AC3E}">
        <p14:creationId xmlns:p14="http://schemas.microsoft.com/office/powerpoint/2010/main" val="38694304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37D14E-1B01-3CE1-F69F-B967B3FE79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FAA019-00CA-BEA6-53D8-CC90AE9032D8}"/>
              </a:ext>
            </a:extLst>
          </p:cNvPr>
          <p:cNvSpPr>
            <a:spLocks noGrp="1"/>
          </p:cNvSpPr>
          <p:nvPr>
            <p:ph type="title"/>
          </p:nvPr>
        </p:nvSpPr>
        <p:spPr/>
        <p:txBody>
          <a:bodyPr/>
          <a:lstStyle/>
          <a:p>
            <a:r>
              <a:rPr lang="en-US" dirty="0"/>
              <a:t>XML in, XML out</a:t>
            </a:r>
          </a:p>
        </p:txBody>
      </p:sp>
      <p:pic>
        <p:nvPicPr>
          <p:cNvPr id="4" name="Content Placeholder 3">
            <a:extLst>
              <a:ext uri="{FF2B5EF4-FFF2-40B4-BE49-F238E27FC236}">
                <a16:creationId xmlns:a16="http://schemas.microsoft.com/office/drawing/2014/main" id="{3C35A5D5-AEDA-85DE-26F8-6C96E8CFA58D}"/>
              </a:ext>
            </a:extLst>
          </p:cNvPr>
          <p:cNvPicPr>
            <a:picLocks noGrp="1" noChangeAspect="1"/>
          </p:cNvPicPr>
          <p:nvPr>
            <p:ph idx="1"/>
          </p:nvPr>
        </p:nvPicPr>
        <p:blipFill>
          <a:blip r:embed="rId2"/>
          <a:stretch>
            <a:fillRect/>
          </a:stretch>
        </p:blipFill>
        <p:spPr>
          <a:xfrm>
            <a:off x="2134829" y="1341157"/>
            <a:ext cx="7922342" cy="1746819"/>
          </a:xfrm>
          <a:prstGeom prst="rect">
            <a:avLst/>
          </a:prstGeom>
        </p:spPr>
      </p:pic>
      <p:sp>
        <p:nvSpPr>
          <p:cNvPr id="5" name="TextBox 4">
            <a:extLst>
              <a:ext uri="{FF2B5EF4-FFF2-40B4-BE49-F238E27FC236}">
                <a16:creationId xmlns:a16="http://schemas.microsoft.com/office/drawing/2014/main" id="{75886C33-69B0-0387-6135-4F7C704E4229}"/>
              </a:ext>
            </a:extLst>
          </p:cNvPr>
          <p:cNvSpPr txBox="1"/>
          <p:nvPr/>
        </p:nvSpPr>
        <p:spPr>
          <a:xfrm>
            <a:off x="838200" y="3429000"/>
            <a:ext cx="9999406" cy="3231654"/>
          </a:xfrm>
          <a:prstGeom prst="rect">
            <a:avLst/>
          </a:prstGeom>
          <a:noFill/>
        </p:spPr>
        <p:txBody>
          <a:bodyPr wrap="square" rtlCol="0">
            <a:spAutoFit/>
          </a:bodyPr>
          <a:lstStyle/>
          <a:p>
            <a:r>
              <a:rPr lang="en-US" dirty="0"/>
              <a:t>API Gateway and Lambdas can support XML / SOAP within a RESTful API. VTL templates are used to stringify the XML. Use your favorite XML parsing library within the lambda to extract the contents of the message.</a:t>
            </a:r>
          </a:p>
          <a:p>
            <a:endParaRPr lang="en-US" dirty="0"/>
          </a:p>
          <a:p>
            <a:pPr marL="285750" indent="-285750">
              <a:buFont typeface="Arial" panose="020B0604020202020204" pitchFamily="34" charset="0"/>
              <a:buChar char="•"/>
            </a:pPr>
            <a:r>
              <a:rPr lang="en-US" dirty="0"/>
              <a:t>Integration method templated body needs to be set up as content-type </a:t>
            </a:r>
            <a:r>
              <a:rPr lang="en-US" b="1" u="sng" dirty="0"/>
              <a:t>text/xml</a:t>
            </a:r>
            <a:r>
              <a:rPr lang="en-US" dirty="0"/>
              <a:t>. VTL template:</a:t>
            </a:r>
          </a:p>
          <a:p>
            <a:r>
              <a:rPr lang="en-GB" sz="1000" dirty="0">
                <a:solidFill>
                  <a:srgbClr val="067D17"/>
                </a:solidFill>
                <a:effectLst/>
                <a:latin typeface="Courier New" panose="02070309020205020404" pitchFamily="49" charset="0"/>
                <a:cs typeface="Courier New" panose="02070309020205020404" pitchFamily="49" charset="0"/>
              </a:rPr>
              <a:t>{</a:t>
            </a:r>
            <a:br>
              <a:rPr lang="en-GB" sz="1000" dirty="0">
                <a:solidFill>
                  <a:srgbClr val="067D17"/>
                </a:solidFill>
                <a:effectLst/>
                <a:latin typeface="Courier New" panose="02070309020205020404" pitchFamily="49" charset="0"/>
                <a:cs typeface="Courier New" panose="02070309020205020404" pitchFamily="49" charset="0"/>
              </a:rPr>
            </a:br>
            <a:r>
              <a:rPr lang="en-GB" sz="1000" dirty="0">
                <a:solidFill>
                  <a:srgbClr val="067D17"/>
                </a:solidFill>
                <a:effectLst/>
                <a:latin typeface="Courier New" panose="02070309020205020404" pitchFamily="49" charset="0"/>
                <a:cs typeface="Courier New" panose="02070309020205020404" pitchFamily="49" charset="0"/>
              </a:rPr>
              <a:t>"body" : $</a:t>
            </a:r>
            <a:r>
              <a:rPr lang="en-GB" sz="1000" dirty="0" err="1">
                <a:solidFill>
                  <a:srgbClr val="067D17"/>
                </a:solidFill>
                <a:effectLst/>
                <a:latin typeface="Courier New" panose="02070309020205020404" pitchFamily="49" charset="0"/>
                <a:cs typeface="Courier New" panose="02070309020205020404" pitchFamily="49" charset="0"/>
              </a:rPr>
              <a:t>input.json</a:t>
            </a:r>
            <a:r>
              <a:rPr lang="en-GB" sz="1000" dirty="0">
                <a:solidFill>
                  <a:srgbClr val="067D17"/>
                </a:solidFill>
                <a:effectLst/>
                <a:latin typeface="Courier New" panose="02070309020205020404" pitchFamily="49" charset="0"/>
                <a:cs typeface="Courier New" panose="02070309020205020404" pitchFamily="49" charset="0"/>
              </a:rPr>
              <a:t>('$')</a:t>
            </a:r>
            <a:br>
              <a:rPr lang="en-GB" sz="1000" dirty="0">
                <a:solidFill>
                  <a:srgbClr val="067D17"/>
                </a:solidFill>
                <a:effectLst/>
                <a:latin typeface="Courier New" panose="02070309020205020404" pitchFamily="49" charset="0"/>
                <a:cs typeface="Courier New" panose="02070309020205020404" pitchFamily="49" charset="0"/>
              </a:rPr>
            </a:br>
            <a:r>
              <a:rPr lang="en-GB" sz="1000" dirty="0">
                <a:solidFill>
                  <a:srgbClr val="067D17"/>
                </a:solidFill>
                <a:effectLst/>
                <a:latin typeface="Courier New" panose="02070309020205020404" pitchFamily="49" charset="0"/>
                <a:cs typeface="Courier New" panose="02070309020205020404" pitchFamily="49" charset="0"/>
              </a:rPr>
              <a:t>}</a:t>
            </a:r>
            <a:endParaRPr lang="en-US" dirty="0"/>
          </a:p>
          <a:p>
            <a:pPr marL="285750" indent="-285750">
              <a:buFont typeface="Arial" panose="020B0604020202020204" pitchFamily="34" charset="0"/>
              <a:buChar char="•"/>
            </a:pPr>
            <a:r>
              <a:rPr lang="en-US" dirty="0"/>
              <a:t>Integration response with content-type </a:t>
            </a:r>
            <a:r>
              <a:rPr lang="en-US" b="1" u="sng" dirty="0"/>
              <a:t>application/xml</a:t>
            </a:r>
            <a:r>
              <a:rPr lang="en-US" dirty="0"/>
              <a:t>. VTL template:</a:t>
            </a:r>
          </a:p>
          <a:p>
            <a:r>
              <a:rPr lang="en-GB" sz="1000" dirty="0">
                <a:solidFill>
                  <a:srgbClr val="067D17"/>
                </a:solidFill>
                <a:effectLst/>
                <a:latin typeface="Courier New" panose="02070309020205020404" pitchFamily="49" charset="0"/>
                <a:cs typeface="Courier New" panose="02070309020205020404" pitchFamily="49" charset="0"/>
              </a:rPr>
              <a:t>#set($</a:t>
            </a:r>
            <a:r>
              <a:rPr lang="en-GB" sz="1000" dirty="0" err="1">
                <a:solidFill>
                  <a:srgbClr val="067D17"/>
                </a:solidFill>
                <a:effectLst/>
                <a:latin typeface="Courier New" panose="02070309020205020404" pitchFamily="49" charset="0"/>
                <a:cs typeface="Courier New" panose="02070309020205020404" pitchFamily="49" charset="0"/>
              </a:rPr>
              <a:t>inputRoot</a:t>
            </a:r>
            <a:r>
              <a:rPr lang="en-GB" sz="1000" dirty="0">
                <a:solidFill>
                  <a:srgbClr val="067D17"/>
                </a:solidFill>
                <a:effectLst/>
                <a:latin typeface="Courier New" panose="02070309020205020404" pitchFamily="49" charset="0"/>
                <a:cs typeface="Courier New" panose="02070309020205020404" pitchFamily="49" charset="0"/>
              </a:rPr>
              <a:t> = $</a:t>
            </a:r>
            <a:r>
              <a:rPr lang="en-GB" sz="1000" dirty="0" err="1">
                <a:solidFill>
                  <a:srgbClr val="067D17"/>
                </a:solidFill>
                <a:effectLst/>
                <a:latin typeface="Courier New" panose="02070309020205020404" pitchFamily="49" charset="0"/>
                <a:cs typeface="Courier New" panose="02070309020205020404" pitchFamily="49" charset="0"/>
              </a:rPr>
              <a:t>input.path</a:t>
            </a:r>
            <a:r>
              <a:rPr lang="en-GB" sz="1000" dirty="0">
                <a:solidFill>
                  <a:srgbClr val="067D17"/>
                </a:solidFill>
                <a:effectLst/>
                <a:latin typeface="Courier New" panose="02070309020205020404" pitchFamily="49" charset="0"/>
                <a:cs typeface="Courier New" panose="02070309020205020404" pitchFamily="49" charset="0"/>
              </a:rPr>
              <a:t>('$'))</a:t>
            </a:r>
            <a:br>
              <a:rPr lang="en-GB" sz="1000" dirty="0">
                <a:solidFill>
                  <a:srgbClr val="067D17"/>
                </a:solidFill>
                <a:effectLst/>
                <a:latin typeface="Courier New" panose="02070309020205020404" pitchFamily="49" charset="0"/>
                <a:cs typeface="Courier New" panose="02070309020205020404" pitchFamily="49" charset="0"/>
              </a:rPr>
            </a:br>
            <a:r>
              <a:rPr lang="en-GB" sz="1000" dirty="0">
                <a:solidFill>
                  <a:srgbClr val="067D17"/>
                </a:solidFill>
                <a:effectLst/>
                <a:latin typeface="Courier New" panose="02070309020205020404" pitchFamily="49" charset="0"/>
                <a:cs typeface="Courier New" panose="02070309020205020404" pitchFamily="49" charset="0"/>
              </a:rPr>
              <a:t>&lt;?xml version="1.0" encoding="UTF-8"?&gt;</a:t>
            </a:r>
            <a:br>
              <a:rPr lang="en-GB" sz="1000" dirty="0">
                <a:solidFill>
                  <a:srgbClr val="067D17"/>
                </a:solidFill>
                <a:effectLst/>
                <a:latin typeface="Courier New" panose="02070309020205020404" pitchFamily="49" charset="0"/>
                <a:cs typeface="Courier New" panose="02070309020205020404" pitchFamily="49" charset="0"/>
              </a:rPr>
            </a:br>
            <a:r>
              <a:rPr lang="en-GB" sz="1000" dirty="0">
                <a:solidFill>
                  <a:srgbClr val="067D17"/>
                </a:solidFill>
                <a:effectLst/>
                <a:latin typeface="Courier New" panose="02070309020205020404" pitchFamily="49" charset="0"/>
                <a:cs typeface="Courier New" panose="02070309020205020404" pitchFamily="49" charset="0"/>
              </a:rPr>
              <a:t>$</a:t>
            </a:r>
            <a:r>
              <a:rPr lang="en-GB" sz="1000" dirty="0" err="1">
                <a:solidFill>
                  <a:srgbClr val="067D17"/>
                </a:solidFill>
                <a:effectLst/>
                <a:latin typeface="Courier New" panose="02070309020205020404" pitchFamily="49" charset="0"/>
                <a:cs typeface="Courier New" panose="02070309020205020404" pitchFamily="49" charset="0"/>
              </a:rPr>
              <a:t>inputRoot.body</a:t>
            </a:r>
            <a:endParaRPr lang="en-GB" sz="1000" dirty="0">
              <a:solidFill>
                <a:srgbClr val="080808"/>
              </a:solidFill>
              <a:effectLst/>
              <a:latin typeface="Courier New" panose="02070309020205020404" pitchFamily="49" charset="0"/>
              <a:cs typeface="Courier New" panose="02070309020205020404" pitchFamily="49" charset="0"/>
            </a:endParaRPr>
          </a:p>
          <a:p>
            <a:pPr marL="285750" indent="-285750">
              <a:buFont typeface="Arial" panose="020B0604020202020204" pitchFamily="34" charset="0"/>
              <a:buChar char="•"/>
            </a:pPr>
            <a:r>
              <a:rPr lang="en-US" dirty="0"/>
              <a:t>Method response needs to be set as content-type </a:t>
            </a:r>
            <a:r>
              <a:rPr lang="en-US" b="1" u="sng" dirty="0"/>
              <a:t>application/</a:t>
            </a:r>
            <a:r>
              <a:rPr lang="en-US" b="1" u="sng" dirty="0" err="1"/>
              <a:t>soap+xml</a:t>
            </a:r>
            <a:r>
              <a:rPr lang="en-US" dirty="0"/>
              <a:t>.</a:t>
            </a:r>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39813612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43D5B6-428A-83FE-136C-3A5768807A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164FF9-668E-ED76-CB70-E2F576F21854}"/>
              </a:ext>
            </a:extLst>
          </p:cNvPr>
          <p:cNvSpPr>
            <a:spLocks noGrp="1"/>
          </p:cNvSpPr>
          <p:nvPr>
            <p:ph type="title"/>
          </p:nvPr>
        </p:nvSpPr>
        <p:spPr/>
        <p:txBody>
          <a:bodyPr/>
          <a:lstStyle/>
          <a:p>
            <a:r>
              <a:rPr lang="en-US" dirty="0"/>
              <a:t>XML in, JSON out</a:t>
            </a:r>
          </a:p>
        </p:txBody>
      </p:sp>
      <p:pic>
        <p:nvPicPr>
          <p:cNvPr id="6" name="Picture 5">
            <a:extLst>
              <a:ext uri="{FF2B5EF4-FFF2-40B4-BE49-F238E27FC236}">
                <a16:creationId xmlns:a16="http://schemas.microsoft.com/office/drawing/2014/main" id="{91D7EB98-20E7-4628-0896-372344437DC3}"/>
              </a:ext>
            </a:extLst>
          </p:cNvPr>
          <p:cNvPicPr>
            <a:picLocks noChangeAspect="1"/>
          </p:cNvPicPr>
          <p:nvPr/>
        </p:nvPicPr>
        <p:blipFill>
          <a:blip r:embed="rId2"/>
          <a:stretch>
            <a:fillRect/>
          </a:stretch>
        </p:blipFill>
        <p:spPr>
          <a:xfrm>
            <a:off x="2209800" y="1291443"/>
            <a:ext cx="7772400" cy="1713758"/>
          </a:xfrm>
          <a:prstGeom prst="rect">
            <a:avLst/>
          </a:prstGeom>
        </p:spPr>
      </p:pic>
      <p:sp>
        <p:nvSpPr>
          <p:cNvPr id="8" name="TextBox 7">
            <a:extLst>
              <a:ext uri="{FF2B5EF4-FFF2-40B4-BE49-F238E27FC236}">
                <a16:creationId xmlns:a16="http://schemas.microsoft.com/office/drawing/2014/main" id="{D14EB645-16D1-7359-997C-A3770E4EEB6E}"/>
              </a:ext>
            </a:extLst>
          </p:cNvPr>
          <p:cNvSpPr txBox="1"/>
          <p:nvPr/>
        </p:nvSpPr>
        <p:spPr>
          <a:xfrm>
            <a:off x="838200" y="3127389"/>
            <a:ext cx="10250130" cy="2769989"/>
          </a:xfrm>
          <a:prstGeom prst="rect">
            <a:avLst/>
          </a:prstGeom>
          <a:noFill/>
        </p:spPr>
        <p:txBody>
          <a:bodyPr wrap="square">
            <a:spAutoFit/>
          </a:bodyPr>
          <a:lstStyle/>
          <a:p>
            <a:r>
              <a:rPr lang="en-US" dirty="0"/>
              <a:t>API Gateway and Lambdas can support XML / SOAP within a RESTful API. VTL templates are used to stringify the XML. Use your favorite XML parsing library within the lambda to extract the contents of the message. </a:t>
            </a:r>
          </a:p>
          <a:p>
            <a:endParaRPr lang="en-US" dirty="0"/>
          </a:p>
          <a:p>
            <a:pPr marL="285750" indent="-285750">
              <a:buFont typeface="Arial" panose="020B0604020202020204" pitchFamily="34" charset="0"/>
              <a:buChar char="•"/>
            </a:pPr>
            <a:r>
              <a:rPr lang="en-US" dirty="0"/>
              <a:t>Integration method templated body needs to be set up as content-type </a:t>
            </a:r>
            <a:r>
              <a:rPr lang="en-US" b="1" u="sng" dirty="0"/>
              <a:t>text/xml</a:t>
            </a:r>
            <a:r>
              <a:rPr lang="en-US" dirty="0"/>
              <a:t>. VTL template:</a:t>
            </a:r>
          </a:p>
          <a:p>
            <a:r>
              <a:rPr lang="en-GB" sz="1000" dirty="0">
                <a:solidFill>
                  <a:srgbClr val="067D17"/>
                </a:solidFill>
                <a:effectLst/>
                <a:latin typeface="Courier New" panose="02070309020205020404" pitchFamily="49" charset="0"/>
                <a:cs typeface="Courier New" panose="02070309020205020404" pitchFamily="49" charset="0"/>
              </a:rPr>
              <a:t>{</a:t>
            </a:r>
            <a:br>
              <a:rPr lang="en-GB" sz="1000" dirty="0">
                <a:solidFill>
                  <a:srgbClr val="067D17"/>
                </a:solidFill>
                <a:effectLst/>
                <a:latin typeface="Courier New" panose="02070309020205020404" pitchFamily="49" charset="0"/>
                <a:cs typeface="Courier New" panose="02070309020205020404" pitchFamily="49" charset="0"/>
              </a:rPr>
            </a:br>
            <a:r>
              <a:rPr lang="en-GB" sz="1000" dirty="0">
                <a:solidFill>
                  <a:srgbClr val="067D17"/>
                </a:solidFill>
                <a:effectLst/>
                <a:latin typeface="Courier New" panose="02070309020205020404" pitchFamily="49" charset="0"/>
                <a:cs typeface="Courier New" panose="02070309020205020404" pitchFamily="49" charset="0"/>
              </a:rPr>
              <a:t>"body" : $</a:t>
            </a:r>
            <a:r>
              <a:rPr lang="en-GB" sz="1000" dirty="0" err="1">
                <a:solidFill>
                  <a:srgbClr val="067D17"/>
                </a:solidFill>
                <a:effectLst/>
                <a:latin typeface="Courier New" panose="02070309020205020404" pitchFamily="49" charset="0"/>
                <a:cs typeface="Courier New" panose="02070309020205020404" pitchFamily="49" charset="0"/>
              </a:rPr>
              <a:t>input.json</a:t>
            </a:r>
            <a:r>
              <a:rPr lang="en-GB" sz="1000" dirty="0">
                <a:solidFill>
                  <a:srgbClr val="067D17"/>
                </a:solidFill>
                <a:effectLst/>
                <a:latin typeface="Courier New" panose="02070309020205020404" pitchFamily="49" charset="0"/>
                <a:cs typeface="Courier New" panose="02070309020205020404" pitchFamily="49" charset="0"/>
              </a:rPr>
              <a:t>('$')</a:t>
            </a:r>
            <a:br>
              <a:rPr lang="en-GB" sz="1000" dirty="0">
                <a:solidFill>
                  <a:srgbClr val="067D17"/>
                </a:solidFill>
                <a:effectLst/>
                <a:latin typeface="Courier New" panose="02070309020205020404" pitchFamily="49" charset="0"/>
                <a:cs typeface="Courier New" panose="02070309020205020404" pitchFamily="49" charset="0"/>
              </a:rPr>
            </a:br>
            <a:r>
              <a:rPr lang="en-GB" sz="1000" dirty="0">
                <a:solidFill>
                  <a:srgbClr val="067D17"/>
                </a:solidFill>
                <a:effectLst/>
                <a:latin typeface="Courier New" panose="02070309020205020404" pitchFamily="49" charset="0"/>
                <a:cs typeface="Courier New" panose="02070309020205020404" pitchFamily="49" charset="0"/>
              </a:rPr>
              <a:t>}</a:t>
            </a:r>
            <a:endParaRPr lang="en-US" dirty="0"/>
          </a:p>
          <a:p>
            <a:pPr marL="285750" indent="-285750">
              <a:buFont typeface="Arial" panose="020B0604020202020204" pitchFamily="34" charset="0"/>
              <a:buChar char="•"/>
            </a:pPr>
            <a:r>
              <a:rPr lang="en-US" dirty="0"/>
              <a:t>Integration response with content-type </a:t>
            </a:r>
            <a:r>
              <a:rPr lang="en-US" b="1" u="sng" dirty="0"/>
              <a:t>application/</a:t>
            </a:r>
            <a:r>
              <a:rPr lang="en-US" b="1" u="sng" dirty="0" err="1"/>
              <a:t>json</a:t>
            </a:r>
            <a:r>
              <a:rPr lang="en-US" dirty="0"/>
              <a:t>. </a:t>
            </a:r>
          </a:p>
          <a:p>
            <a:pPr marL="285750" indent="-285750">
              <a:buFont typeface="Arial" panose="020B0604020202020204" pitchFamily="34" charset="0"/>
              <a:buChar char="•"/>
            </a:pPr>
            <a:r>
              <a:rPr lang="en-US" dirty="0"/>
              <a:t>Method response needs to be set as content-type </a:t>
            </a:r>
            <a:r>
              <a:rPr lang="en-US" b="1" u="sng" dirty="0"/>
              <a:t>application/</a:t>
            </a:r>
            <a:r>
              <a:rPr lang="en-US" b="1" u="sng" dirty="0" err="1"/>
              <a:t>json</a:t>
            </a:r>
            <a:r>
              <a:rPr lang="en-US" dirty="0"/>
              <a:t>.</a:t>
            </a:r>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33298220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9A6C68-E91A-ED90-5CA8-468DA58F6F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EB7FCA-1274-C7E5-F01C-D88063C4AD60}"/>
              </a:ext>
            </a:extLst>
          </p:cNvPr>
          <p:cNvSpPr>
            <a:spLocks noGrp="1"/>
          </p:cNvSpPr>
          <p:nvPr>
            <p:ph type="title"/>
          </p:nvPr>
        </p:nvSpPr>
        <p:spPr/>
        <p:txBody>
          <a:bodyPr/>
          <a:lstStyle/>
          <a:p>
            <a:r>
              <a:rPr lang="en-US" dirty="0"/>
              <a:t>JSON in, JSON out (default)</a:t>
            </a:r>
          </a:p>
        </p:txBody>
      </p:sp>
      <p:pic>
        <p:nvPicPr>
          <p:cNvPr id="6" name="Picture 5">
            <a:extLst>
              <a:ext uri="{FF2B5EF4-FFF2-40B4-BE49-F238E27FC236}">
                <a16:creationId xmlns:a16="http://schemas.microsoft.com/office/drawing/2014/main" id="{166D96A0-8D20-BFF7-B9B5-B0D7BFA48CF4}"/>
              </a:ext>
            </a:extLst>
          </p:cNvPr>
          <p:cNvPicPr>
            <a:picLocks noChangeAspect="1"/>
          </p:cNvPicPr>
          <p:nvPr/>
        </p:nvPicPr>
        <p:blipFill>
          <a:blip r:embed="rId2"/>
          <a:stretch>
            <a:fillRect/>
          </a:stretch>
        </p:blipFill>
        <p:spPr>
          <a:xfrm>
            <a:off x="2209800" y="1374385"/>
            <a:ext cx="7772400" cy="1713758"/>
          </a:xfrm>
          <a:prstGeom prst="rect">
            <a:avLst/>
          </a:prstGeom>
        </p:spPr>
      </p:pic>
      <p:sp>
        <p:nvSpPr>
          <p:cNvPr id="8" name="TextBox 7">
            <a:extLst>
              <a:ext uri="{FF2B5EF4-FFF2-40B4-BE49-F238E27FC236}">
                <a16:creationId xmlns:a16="http://schemas.microsoft.com/office/drawing/2014/main" id="{A5A08ABF-AFB7-E452-2CF7-6F30999A7D1A}"/>
              </a:ext>
            </a:extLst>
          </p:cNvPr>
          <p:cNvSpPr txBox="1"/>
          <p:nvPr/>
        </p:nvSpPr>
        <p:spPr>
          <a:xfrm>
            <a:off x="838200" y="3370820"/>
            <a:ext cx="10085439" cy="646331"/>
          </a:xfrm>
          <a:prstGeom prst="rect">
            <a:avLst/>
          </a:prstGeom>
          <a:noFill/>
        </p:spPr>
        <p:txBody>
          <a:bodyPr wrap="square">
            <a:spAutoFit/>
          </a:bodyPr>
          <a:lstStyle/>
          <a:p>
            <a:r>
              <a:rPr lang="en-GB" dirty="0"/>
              <a:t>In this pattern, everything stays as </a:t>
            </a:r>
            <a:r>
              <a:rPr lang="en-US" b="1" u="sng" dirty="0"/>
              <a:t>application/</a:t>
            </a:r>
            <a:r>
              <a:rPr lang="en-US" b="1" u="sng" dirty="0" err="1"/>
              <a:t>json</a:t>
            </a:r>
            <a:r>
              <a:rPr lang="en-US" dirty="0"/>
              <a:t>.</a:t>
            </a:r>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38959831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4818B7-20C1-168D-9C37-D43A60F4ADF3}"/>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88E97CD8-BE03-83EA-05C2-6666F2E29F86}"/>
              </a:ext>
            </a:extLst>
          </p:cNvPr>
          <p:cNvSpPr>
            <a:spLocks noGrp="1"/>
          </p:cNvSpPr>
          <p:nvPr>
            <p:ph type="title"/>
          </p:nvPr>
        </p:nvSpPr>
        <p:spPr>
          <a:xfrm>
            <a:off x="838200" y="2766218"/>
            <a:ext cx="10515600" cy="1325563"/>
          </a:xfrm>
        </p:spPr>
        <p:txBody>
          <a:bodyPr/>
          <a:lstStyle/>
          <a:p>
            <a:r>
              <a:rPr lang="en-US" dirty="0"/>
              <a:t>Playground time.</a:t>
            </a:r>
            <a:br>
              <a:rPr lang="en-US" dirty="0"/>
            </a:br>
            <a:r>
              <a:rPr lang="en-US" sz="2400" dirty="0"/>
              <a:t>Using O’Reilly Sandbox. </a:t>
            </a:r>
            <a:r>
              <a:rPr lang="en-US" sz="2400" dirty="0">
                <a:sym typeface="Wingdings" pitchFamily="2" charset="2"/>
              </a:rPr>
              <a:t></a:t>
            </a:r>
            <a:endParaRPr lang="en-US" dirty="0"/>
          </a:p>
        </p:txBody>
      </p:sp>
    </p:spTree>
    <p:extLst>
      <p:ext uri="{BB962C8B-B14F-4D97-AF65-F5344CB8AC3E}">
        <p14:creationId xmlns:p14="http://schemas.microsoft.com/office/powerpoint/2010/main" val="38503024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B4EE85-DFFA-5F05-F8BD-E60005A2C7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2A5326-CF41-F0AE-CD60-34F5AB97F7EC}"/>
              </a:ext>
            </a:extLst>
          </p:cNvPr>
          <p:cNvSpPr>
            <a:spLocks noGrp="1"/>
          </p:cNvSpPr>
          <p:nvPr>
            <p:ph type="title"/>
          </p:nvPr>
        </p:nvSpPr>
        <p:spPr/>
        <p:txBody>
          <a:bodyPr/>
          <a:lstStyle/>
          <a:p>
            <a:r>
              <a:rPr lang="en-US" dirty="0"/>
              <a:t>Roadmap – starting this Quarter.</a:t>
            </a:r>
          </a:p>
        </p:txBody>
      </p:sp>
      <p:sp>
        <p:nvSpPr>
          <p:cNvPr id="3" name="Content Placeholder 2">
            <a:extLst>
              <a:ext uri="{FF2B5EF4-FFF2-40B4-BE49-F238E27FC236}">
                <a16:creationId xmlns:a16="http://schemas.microsoft.com/office/drawing/2014/main" id="{F3B095FE-7B37-E1D5-CD1F-C5D9A524056C}"/>
              </a:ext>
            </a:extLst>
          </p:cNvPr>
          <p:cNvSpPr>
            <a:spLocks noGrp="1"/>
          </p:cNvSpPr>
          <p:nvPr>
            <p:ph idx="1"/>
          </p:nvPr>
        </p:nvSpPr>
        <p:spPr/>
        <p:txBody>
          <a:bodyPr>
            <a:normAutofit/>
          </a:bodyPr>
          <a:lstStyle/>
          <a:p>
            <a:r>
              <a:rPr lang="en-US" dirty="0"/>
              <a:t>Get access to a sandbox (Zensar conversations ongoing).</a:t>
            </a:r>
          </a:p>
          <a:p>
            <a:r>
              <a:rPr lang="en-US" dirty="0"/>
              <a:t>Create a </a:t>
            </a:r>
            <a:r>
              <a:rPr lang="en-US" dirty="0" err="1"/>
              <a:t>monorepo</a:t>
            </a:r>
            <a:r>
              <a:rPr lang="en-US" dirty="0"/>
              <a:t> which will house our lambdas, libraries &amp; cloud components (aka. ways of working).</a:t>
            </a:r>
          </a:p>
          <a:p>
            <a:r>
              <a:rPr lang="en-US" dirty="0"/>
              <a:t>Attempt to have a proof of work by the end of the quarter:</a:t>
            </a:r>
          </a:p>
          <a:p>
            <a:pPr lvl="1"/>
            <a:r>
              <a:rPr lang="en-US" dirty="0"/>
              <a:t>Either working skeleton (e.g., the hello world);</a:t>
            </a:r>
          </a:p>
          <a:p>
            <a:pPr lvl="1"/>
            <a:r>
              <a:rPr lang="en-US" dirty="0"/>
              <a:t>Or: </a:t>
            </a:r>
          </a:p>
          <a:p>
            <a:pPr lvl="2"/>
            <a:r>
              <a:rPr lang="en-US" dirty="0"/>
              <a:t>Postcode Address Finder / or other simpler APIs;</a:t>
            </a:r>
          </a:p>
          <a:p>
            <a:endParaRPr lang="en-US" dirty="0"/>
          </a:p>
        </p:txBody>
      </p:sp>
    </p:spTree>
    <p:extLst>
      <p:ext uri="{BB962C8B-B14F-4D97-AF65-F5344CB8AC3E}">
        <p14:creationId xmlns:p14="http://schemas.microsoft.com/office/powerpoint/2010/main" val="39735058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AD01C4-02D7-574C-DA1A-B4B08F5105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55FAFB-9865-0070-2653-AA43884D81E8}"/>
              </a:ext>
            </a:extLst>
          </p:cNvPr>
          <p:cNvSpPr>
            <a:spLocks noGrp="1"/>
          </p:cNvSpPr>
          <p:nvPr>
            <p:ph type="title"/>
          </p:nvPr>
        </p:nvSpPr>
        <p:spPr/>
        <p:txBody>
          <a:bodyPr/>
          <a:lstStyle/>
          <a:p>
            <a:r>
              <a:rPr lang="en-US" dirty="0"/>
              <a:t>Where do we find the documentation for this</a:t>
            </a:r>
            <a:br>
              <a:rPr lang="en-US" dirty="0"/>
            </a:br>
            <a:r>
              <a:rPr lang="en-US" dirty="0"/>
              <a:t>service?</a:t>
            </a:r>
          </a:p>
        </p:txBody>
      </p:sp>
      <p:sp>
        <p:nvSpPr>
          <p:cNvPr id="3" name="Content Placeholder 2">
            <a:extLst>
              <a:ext uri="{FF2B5EF4-FFF2-40B4-BE49-F238E27FC236}">
                <a16:creationId xmlns:a16="http://schemas.microsoft.com/office/drawing/2014/main" id="{644512B8-246D-CF96-73E9-A32F82C0329E}"/>
              </a:ext>
            </a:extLst>
          </p:cNvPr>
          <p:cNvSpPr>
            <a:spLocks noGrp="1"/>
          </p:cNvSpPr>
          <p:nvPr>
            <p:ph idx="1"/>
          </p:nvPr>
        </p:nvSpPr>
        <p:spPr/>
        <p:txBody>
          <a:bodyPr>
            <a:normAutofit/>
          </a:bodyPr>
          <a:lstStyle/>
          <a:p>
            <a:r>
              <a:rPr lang="en-US" b="1" dirty="0"/>
              <a:t>Amazon Developer </a:t>
            </a:r>
            <a:r>
              <a:rPr lang="en-US" dirty="0"/>
              <a:t>Documentation: </a:t>
            </a:r>
            <a:r>
              <a:rPr lang="en-US" dirty="0">
                <a:hlinkClick r:id="rId2"/>
              </a:rPr>
              <a:t>https://docs.aws.amazon.com/lambda/latest/dg/welcome.html</a:t>
            </a:r>
            <a:endParaRPr lang="en-US" dirty="0"/>
          </a:p>
          <a:p>
            <a:pPr marL="0" indent="0">
              <a:buNone/>
            </a:pPr>
            <a:endParaRPr lang="en-US" dirty="0"/>
          </a:p>
          <a:p>
            <a:r>
              <a:rPr lang="en-US" b="1" dirty="0"/>
              <a:t>Terraform</a:t>
            </a:r>
            <a:r>
              <a:rPr lang="en-US" dirty="0"/>
              <a:t> documentation with regarding AWS Lambda </a:t>
            </a:r>
            <a:r>
              <a:rPr lang="en-US" dirty="0" err="1"/>
              <a:t>Fn</a:t>
            </a:r>
            <a:r>
              <a:rPr lang="en-US" dirty="0"/>
              <a:t>(s):</a:t>
            </a:r>
          </a:p>
          <a:p>
            <a:pPr lvl="1"/>
            <a:r>
              <a:rPr lang="en-US" dirty="0">
                <a:hlinkClick r:id="rId3"/>
              </a:rPr>
              <a:t>https://registry.terraform.io/providers/hashicorp/aws/latest/docs/resources/lambda_function</a:t>
            </a:r>
            <a:r>
              <a:rPr lang="en-US" dirty="0"/>
              <a:t> </a:t>
            </a:r>
          </a:p>
          <a:p>
            <a:r>
              <a:rPr lang="en-US" b="1" dirty="0"/>
              <a:t>Book: </a:t>
            </a:r>
            <a:r>
              <a:rPr lang="en-US" dirty="0"/>
              <a:t>Programming AWS Lambdas, John Chapin &amp; Mike Roberts, O’Reilly Media, March 2020 (~300 pages).</a:t>
            </a:r>
          </a:p>
          <a:p>
            <a:pPr lvl="1"/>
            <a:r>
              <a:rPr lang="en-US" dirty="0">
                <a:hlinkClick r:id="rId4"/>
              </a:rPr>
              <a:t>https://learning.oreilly.com/library/view/programming-aws-lambda/9781492041047/</a:t>
            </a:r>
            <a:r>
              <a:rPr lang="en-US" dirty="0"/>
              <a:t> </a:t>
            </a:r>
          </a:p>
        </p:txBody>
      </p:sp>
    </p:spTree>
    <p:extLst>
      <p:ext uri="{BB962C8B-B14F-4D97-AF65-F5344CB8AC3E}">
        <p14:creationId xmlns:p14="http://schemas.microsoft.com/office/powerpoint/2010/main" val="15572234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C26148-0278-E1CF-542E-5A04729040E7}"/>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314EE1F1-FAF0-1FEC-9A00-CA21C07B3C3F}"/>
              </a:ext>
            </a:extLst>
          </p:cNvPr>
          <p:cNvSpPr>
            <a:spLocks noGrp="1"/>
          </p:cNvSpPr>
          <p:nvPr>
            <p:ph type="title"/>
          </p:nvPr>
        </p:nvSpPr>
        <p:spPr>
          <a:xfrm>
            <a:off x="838200" y="2766218"/>
            <a:ext cx="10515600" cy="1325563"/>
          </a:xfrm>
        </p:spPr>
        <p:txBody>
          <a:bodyPr/>
          <a:lstStyle/>
          <a:p>
            <a:r>
              <a:rPr lang="en-US" dirty="0"/>
              <a:t>Q/A</a:t>
            </a:r>
            <a:br>
              <a:rPr lang="en-US" dirty="0"/>
            </a:br>
            <a:r>
              <a:rPr lang="en-US" sz="2400" dirty="0"/>
              <a:t>Questions &amp; Answers</a:t>
            </a:r>
            <a:endParaRPr lang="en-US" dirty="0"/>
          </a:p>
        </p:txBody>
      </p:sp>
    </p:spTree>
    <p:extLst>
      <p:ext uri="{BB962C8B-B14F-4D97-AF65-F5344CB8AC3E}">
        <p14:creationId xmlns:p14="http://schemas.microsoft.com/office/powerpoint/2010/main" val="36699440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7fcacc7f-c000-49fc-98f0-0eebc7e1e61d}" enabled="1" method="Standard" siteId="{bce3f16a-29b1-444a-afde-a7b86e45a778}" contentBits="2" removed="0"/>
</clbl:labelList>
</file>

<file path=docProps/app.xml><?xml version="1.0" encoding="utf-8"?>
<Properties xmlns="http://schemas.openxmlformats.org/officeDocument/2006/extended-properties" xmlns:vt="http://schemas.openxmlformats.org/officeDocument/2006/docPropsVTypes">
  <TotalTime>1108</TotalTime>
  <Words>1045</Words>
  <Application>Microsoft Macintosh PowerPoint</Application>
  <PresentationFormat>Widescreen</PresentationFormat>
  <Paragraphs>89</Paragraphs>
  <Slides>15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Amazon Ember</vt:lpstr>
      <vt:lpstr>Aptos</vt:lpstr>
      <vt:lpstr>Aptos Display</vt:lpstr>
      <vt:lpstr>Arial</vt:lpstr>
      <vt:lpstr>Calibri</vt:lpstr>
      <vt:lpstr>Courier New</vt:lpstr>
      <vt:lpstr>Wingdings</vt:lpstr>
      <vt:lpstr>Office Theme</vt:lpstr>
      <vt:lpstr>AWS Lambda</vt:lpstr>
      <vt:lpstr>What is AWS Lambda?</vt:lpstr>
      <vt:lpstr>What are the service limitations? </vt:lpstr>
      <vt:lpstr>What are the service limitations? </vt:lpstr>
      <vt:lpstr>Why do we need AWS Lambda Fn(s)?</vt:lpstr>
      <vt:lpstr>Where does AWS Lambda sit in the existing landscape? (1)</vt:lpstr>
      <vt:lpstr>Where does AWS Lambda sit in the existing landscape? (2)</vt:lpstr>
      <vt:lpstr>Patterns we need to support (1)</vt:lpstr>
      <vt:lpstr>XML in, XML out</vt:lpstr>
      <vt:lpstr>XML in, JSON out</vt:lpstr>
      <vt:lpstr>JSON in, JSON out (default)</vt:lpstr>
      <vt:lpstr>Playground time. Using O’Reilly Sandbox. </vt:lpstr>
      <vt:lpstr>Roadmap – starting this Quarter.</vt:lpstr>
      <vt:lpstr>Where do we find the documentation for this service?</vt:lpstr>
      <vt:lpstr>Q/A Questions &amp; Answers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Radu Tutunaru</dc:creator>
  <cp:lastModifiedBy>Tutunaru, Radu-Marian (Tesco IMS)</cp:lastModifiedBy>
  <cp:revision>10</cp:revision>
  <dcterms:created xsi:type="dcterms:W3CDTF">2025-02-17T22:31:41Z</dcterms:created>
  <dcterms:modified xsi:type="dcterms:W3CDTF">2025-03-11T13:57:55Z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FooterLocations">
    <vt:lpwstr>Office Theme:8</vt:lpwstr>
  </property>
  <property fmtid="{D5CDD505-2E9C-101B-9397-08002B2CF9AE}" pid="3" name="ClassificationContentMarkingFooterText">
    <vt:lpwstr>Data Classification: Amber</vt:lpwstr>
  </property>
</Properties>
</file>